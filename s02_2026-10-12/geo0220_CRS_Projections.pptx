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59" r:id="rId10"/>
    <p:sldId id="261" r:id="rId12"/>
    <p:sldId id="262" r:id="rId13"/>
    <p:sldId id="263" r:id="rId14"/>
    <p:sldId id="264" r:id="rId15"/>
    <p:sldId id="265" r:id="rId16"/>
    <p:sldId id="267" r:id="rId18"/>
    <p:sldId id="269" r:id="rId20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2" r:id="rId43"/>
    <p:sldId id="293" r:id="rId44"/>
    <p:sldId id="294" r:id="rId45"/>
    <p:sldId id="295" r:id="rId46"/>
    <p:sldId id="296" r:id="rId47"/>
    <p:sldId id="298" r:id="rId49"/>
    <p:sldId id="299" r:id="rId50"/>
    <p:sldId id="301" r:id="rId52"/>
    <p:sldId id="303" r:id="rId54"/>
    <p:sldId id="304" r:id="rId55"/>
    <p:sldId id="305" r:id="rId56"/>
    <p:sldId id="306" r:id="rId57"/>
    <p:sldId id="307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50DF-6A56-4683-84A0-9F4766A15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80E23-9634-4C46-9D7C-81DC9C6C1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5A4D-09F2-4B0F-A149-A6672B58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4C268-BE16-408B-909B-DE68D8FA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4AAB-F8D0-40D9-8973-913795E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78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ECB0-CD89-43EC-B046-34143990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5269-D411-416C-B8D8-79952D9E3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8A6E-524E-474C-86A0-72018922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B5EEB-EE6F-4F5E-AC81-D46685E0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AAA0-40DE-4A3D-8F76-ABD65A6E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23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FEC7-5B63-404F-9905-ACEAD4C1F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D25BC-0B97-41E6-BF43-CAAA08D5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EB24-F7FA-4D31-BBE8-710237515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BA50-B6AE-467B-9EFE-EEF613BF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B140D-688A-4CA1-889B-A15CF777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4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B71-B5BA-4EC8-84F5-9BF55177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DD429-5479-414E-A832-71C1E3C18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1BBC6-6A25-4EC4-AB37-AF22133C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D7EE0-403D-44BE-95A1-54E8A41C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EF1A8-15E7-490A-A0EC-8F0E21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BD47C-FDD0-4534-81C0-F613CA1F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35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9C9-6D07-43A5-858A-FEAD4A9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3A8BC-1975-4828-8C90-16313039A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805-00C1-43F7-9A1A-5ED7FA844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C01AB-5A49-46D8-8E47-8A9F9AA09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6D58D-E3B9-45F0-B0CD-004D08584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16A4C-387B-48EE-AC0A-FEDF9EA6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1112DD-8D37-4488-B45B-FE2042E3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94F1C-BCCA-4784-BC44-1927691BA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3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34BE-8B56-4410-9C14-E37C5142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5E3E23-6F69-4FFD-8DA5-2C6FCA84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B299F-DFE8-45FA-815A-D25F6511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A881E-8F3E-4B4D-95C4-EA10BA7D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47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691ED-A613-4383-8AD8-AF11C0EC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4C779-BA81-4CE1-AE8A-C3FEC7C3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F2FE0-54CF-4DAD-841A-E7084DE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11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0505-B01A-4DEC-9A3A-0CFCD415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B7BB-E438-4323-A07A-78533491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17714-BB80-4B98-94C2-51F73DB1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890E4-6F2D-49D0-9CA7-313873F6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CE27-4993-4BAE-98D8-5E2C4225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D03D5-21C6-4561-BC66-3A935376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15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07EB-E67D-41A4-9958-78AF4812D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FD6CF-1CBF-4E4D-B2D6-B05E336CE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F7BFD-FC2D-4341-883A-BDAE5A773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37643-2A00-4731-97A3-DB59A0B9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BB96D-0449-44C8-AF04-CD7C4B46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138AB-290C-4C0C-BC06-D2F0AFB0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72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4C04-DCE5-4589-83E7-0B65423F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EE96D-AD70-44C8-B472-851020ACC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226AF-845B-4276-8454-41A75ECB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8CE4-57A9-4558-87C7-EF4E0914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09842-5CF2-41C2-9D4D-37CE8E1C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8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508C-FD32-4F96-BDBA-A56DE3AD9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F6B02-7CEB-400B-8389-2C362893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A96B0-120A-4A74-99A8-355E3A5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140A-D65D-43BF-9CC3-4B97B021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396D8-7534-46EC-B681-2C76F733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347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9556E-D839-4917-831A-DF6666A8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D2EE8-A7AC-4562-A32A-8A5DC1DA8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C52C-7C86-4474-B8C0-C6E9BC1B4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65236-DF10-4D25-BC95-0C2CF9E351CA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8686-68EA-4797-BF34-26B83E37D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B4CCA-3D0D-4701-B1AF-DDC1D659D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8D83F-A1E1-4709-801E-AF2B5CD9FC1C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https://avatars.githubusercontent.com/u/108284238?s=60&amp;v=4">
            <a:extLst>
              <a:ext uri="{FF2B5EF4-FFF2-40B4-BE49-F238E27FC236}">
                <a16:creationId xmlns:a16="http://schemas.microsoft.com/office/drawing/2014/main" id="{6CCBEEFC-210D-4C08-AFAF-C6AC36191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020" y="6152111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08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en.wikipedia.org/wiki/Spatial_reference_system" TargetMode="External"/><Relationship Id="rId5" Type="http://schemas.openxmlformats.org/officeDocument/2006/relationships/hyperlink" Target="https://en.wikipedia.org/wiki/Map_projecti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en.wikipedia.org/wiki/World_Geodetic_System" TargetMode="External"/><Relationship Id="rId5" Type="http://schemas.openxmlformats.org/officeDocument/2006/relationships/hyperlink" Target="https://en.wikipedia.org/wiki/Flatten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Earth_ellipsoid" TargetMode="External"/><Relationship Id="rId4" Type="http://schemas.openxmlformats.org/officeDocument/2006/relationships/hyperlink" Target="https://en.wikipedia.org/wiki/GRS_80" TargetMode="External"/><Relationship Id="rId5" Type="http://schemas.openxmlformats.org/officeDocument/2006/relationships/hyperlink" Target="https://en.wikipedia.org/wiki/World_Geodetic_System" TargetMode="External"/><Relationship Id="rId6" Type="http://schemas.openxmlformats.org/officeDocument/2006/relationships/hyperlink" Target="https://en.wikipedia.org/wiki/Flatteni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en.wikipedia.org/wiki/Geoid" TargetMode="External"/><Relationship Id="rId6" Type="http://schemas.openxmlformats.org/officeDocument/2006/relationships/hyperlink" Target="https://en.wikipedia.org/wiki/Earth_Gravitational_Model" TargetMode="External"/><Relationship Id="rId7" Type="http://schemas.openxmlformats.org/officeDocument/2006/relationships/hyperlink" Target="https://en.wikipedia.org/wiki/Orthometric_heigh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en.wikipedia.org/wiki/Geodetic_datum" TargetMode="External"/><Relationship Id="rId5" Type="http://schemas.openxmlformats.org/officeDocument/2006/relationships/hyperlink" Target="https://en.wikipedia.org/wiki/Figure_of_the_Eart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en.wikipedia.org/wiki/Geographic_coordinate_system" TargetMode="External"/><Relationship Id="rId5" Type="http://schemas.openxmlformats.org/officeDocument/2006/relationships/hyperlink" Target="https://en.wikipedia.org/wiki/Latitude" TargetMode="External"/><Relationship Id="rId6" Type="http://schemas.openxmlformats.org/officeDocument/2006/relationships/hyperlink" Target="https://en.wikipedia.org/wiki/Longitude" TargetMode="External"/><Relationship Id="rId7" Type="http://schemas.openxmlformats.org/officeDocument/2006/relationships/hyperlink" Target="https://en.wikipedia.org/wiki/Prime_meridian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n.wikipedia.org/wiki/Decimal_degrees" TargetMode="External"/><Relationship Id="rId4" Type="http://schemas.openxmlformats.org/officeDocument/2006/relationships/hyperlink" Target="https://en.wikipedia.org/wiki/NMEA_018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hyperlink" Target="https://en.wikipedia.org/wiki/Nautical_mile" TargetMode="External"/><Relationship Id="rId5" Type="http://schemas.openxmlformats.org/officeDocument/2006/relationships/hyperlink" Target="https://en.wikipedia.org/wiki/Geographic_coordinate_syste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en.wikipedia.org/wiki/Earth-centered,_Earth-fixed_coordinate_system" TargetMode="External"/><Relationship Id="rId5" Type="http://schemas.openxmlformats.org/officeDocument/2006/relationships/hyperlink" Target="https://en.wikipedia.org/wiki/Helmert_transformation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hyperlink" Target="https://en.wikipedia.org/wiki/Local_tangent_plane_coordinates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en.wikipedia.org/wiki/Map_projection" TargetMode="External"/><Relationship Id="rId5" Type="http://schemas.openxmlformats.org/officeDocument/2006/relationships/hyperlink" Target="https://en.wikipedia.org/wiki/List_of_map_projection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n.wikipedia.org/wiki/Map_projection" TargetMode="External"/><Relationship Id="rId4" Type="http://schemas.openxmlformats.org/officeDocument/2006/relationships/hyperlink" Target="https://en.wikipedia.org/wiki/Theorema_Egregiu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hyperlink" Target="https://en.wikipedia.org/wiki/List_of_map_projections" TargetMode="External"/><Relationship Id="rId5" Type="http://schemas.openxmlformats.org/officeDocument/2006/relationships/hyperlink" Target="https://en.wikipedia.org/wiki/Gnomonic_projection" TargetMode="External"/><Relationship Id="rId6" Type="http://schemas.openxmlformats.org/officeDocument/2006/relationships/hyperlink" Target="https://en.wikipedia.org/wiki/Lambert_azimuthal_equal-area_projection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Tissot%27s_indicatrix" TargetMode="External"/><Relationship Id="rId5" Type="http://schemas.openxmlformats.org/officeDocument/2006/relationships/hyperlink" Target="https://en.wikipedia.org/wiki/Mercator_projection" TargetMode="External"/><Relationship Id="rId6" Type="http://schemas.openxmlformats.org/officeDocument/2006/relationships/hyperlink" Target="https://en.wikipedia.org/wiki/Gall%E2%80%93Peters_projection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hyperlink" Target="https://en.wikipedia.org/wiki/Tissot%27s_indicatrix" TargetMode="External"/><Relationship Id="rId5" Type="http://schemas.openxmlformats.org/officeDocument/2006/relationships/hyperlink" Target="https://en.wikipedia.org/wiki/Equal_Earth_projection" TargetMode="External"/><Relationship Id="rId6" Type="http://schemas.openxmlformats.org/officeDocument/2006/relationships/hyperlink" Target="https://en.wikipedia.org/wiki/Robinson_projection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hyperlink" Target="https://en.wikipedia.org/wiki/Mercator_projection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hyperlink" Target="https://en.wikipedia.org/wiki/Mercator_projection" TargetMode="External"/><Relationship Id="rId5" Type="http://schemas.openxmlformats.org/officeDocument/2006/relationships/hyperlink" Target="https://en.wikipedia.org/wiki/Central_cylindrical_projection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hyperlink" Target="https://www.thetruesize.com/" TargetMode="External"/><Relationship Id="rId5" Type="http://schemas.openxmlformats.org/officeDocument/2006/relationships/hyperlink" Target="https://en.wikipedia.org/wiki/Mercator_projection" TargetMode="External"/><Relationship Id="rId6" Type="http://schemas.openxmlformats.org/officeDocument/2006/relationships/hyperlink" Target="https://en.wikipedia.org/wiki/Web_Mercator_projection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hyperlink" Target="https://en.wikipedia.org/wiki/Rhumb_line" TargetMode="External"/><Relationship Id="rId5" Type="http://schemas.openxmlformats.org/officeDocument/2006/relationships/hyperlink" Target="https://en.wikipedia.org/wiki/Great_circle" TargetMode="External"/><Relationship Id="rId6" Type="http://schemas.openxmlformats.org/officeDocument/2006/relationships/hyperlink" Target="https://en.wikipedia.org/wiki/Great-circle_navigation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hyperlink" Target="https://en.wikipedia.org/wiki/Transverse_Mercator_projection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hyperlink" Target="https://en.wikipedia.org/wiki/Universal_Transverse_Mercator_coordinate_syste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hyperlink" Target="https://en.wikipedia.org/wiki/Universal_polar_stereographic_coordinate_system" TargetMode="External"/><Relationship Id="rId5" Type="http://schemas.openxmlformats.org/officeDocument/2006/relationships/hyperlink" Target="https://en.wikipedia.org/wiki/Military_Grid_Reference_System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hyperlink" Target="https://en.wikipedia.org/wiki/Universal_polar_stereographic_coordinate_system" TargetMode="External"/><Relationship Id="rId5" Type="http://schemas.openxmlformats.org/officeDocument/2006/relationships/hyperlink" Target="https://en.wikipedia.org/wiki/Military_Grid_Reference_System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hyperlink" Target="https://en.wikipedia.org/wiki/Universal_Transverse_Mercator_coordinate_system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hyperlink" Target="https://en.wikipedia.org/wiki/Universal_Transverse_Mercator_coordinate_system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en.wikipedia.org/wiki/EPSG_Geodetic_Parameter_Dataset" TargetMode="External"/><Relationship Id="rId4" Type="http://schemas.openxmlformats.org/officeDocument/2006/relationships/hyperlink" Target="https://en.wikipedia.org/wiki/European_Terrestrial_Reference_System_1989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hyperlink" Target="https://en.wikipedia.org/wiki/Gauss%E2%80%93Kr%C3%BCger_coordinate_system" TargetMode="External"/><Relationship Id="rId5" Type="http://schemas.openxmlformats.org/officeDocument/2006/relationships/hyperlink" Target="https://en.wikipedia.org/wiki/European_Terrestrial_Reference_System_1989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epsg.io/4326" TargetMode="External"/><Relationship Id="rId4" Type="http://schemas.openxmlformats.org/officeDocument/2006/relationships/hyperlink" Target="https://epsg.io/25832" TargetMode="External"/><Relationship Id="rId5" Type="http://schemas.openxmlformats.org/officeDocument/2006/relationships/hyperlink" Target="https://epsg.io/4647" TargetMode="External"/><Relationship Id="rId6" Type="http://schemas.openxmlformats.org/officeDocument/2006/relationships/hyperlink" Target="https://epsg.io/3857" TargetMode="External"/><Relationship Id="rId7" Type="http://schemas.openxmlformats.org/officeDocument/2006/relationships/hyperlink" Target="https://en.wikipedia.org/wiki/EPSG_Geodetic_Parameter_Datase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en.wikipedia.org/wiki/Spatial_reference_system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en.wikipedia.org/wiki/EPSG_Geodetic_Parameter_Dataset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Relationship Id="rId4" Type="http://schemas.openxmlformats.org/officeDocument/2006/relationships/hyperlink" Target="https://en.wikipedia.org/wiki/Helmert_transformation" TargetMode="External"/><Relationship Id="rId5" Type="http://schemas.openxmlformats.org/officeDocument/2006/relationships/hyperlink" Target="https://en.wikipedia.org/wiki/Geodetic_datum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hyperlink" Target="https://en.wikipedia.org/wiki/Normal_height" TargetMode="External"/><Relationship Id="rId5" Type="http://schemas.openxmlformats.org/officeDocument/2006/relationships/hyperlink" Target="https://en.wikipedia.org/wiki/Geoid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en.wikipedia.org/wiki/International_Terrestrial_Reference_System_and_Frame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Relationship Id="rId4" Type="http://schemas.openxmlformats.org/officeDocument/2006/relationships/hyperlink" Target="https://en.wikipedia.org/wiki/European_Terrestrial_Reference_System_1989" TargetMode="External"/><Relationship Id="rId5" Type="http://schemas.openxmlformats.org/officeDocument/2006/relationships/hyperlink" Target="https://en.wikipedia.org/wiki/Plate_tectonics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en.wikipedia.org/wiki/Spatial_reference_system" TargetMode="External"/><Relationship Id="rId4" Type="http://schemas.openxmlformats.org/officeDocument/2006/relationships/hyperlink" Target="https://en.wikipedia.org/wiki/Map_projection" TargetMode="External"/><Relationship Id="rId5" Type="http://schemas.openxmlformats.org/officeDocument/2006/relationships/hyperlink" Target="https://en.wikipedia.org/wiki/World_Geodetic_System" TargetMode="External"/><Relationship Id="rId6" Type="http://schemas.openxmlformats.org/officeDocument/2006/relationships/hyperlink" Target="https://en.wikipedia.org/wiki/Flattening" TargetMode="External"/><Relationship Id="rId7" Type="http://schemas.openxmlformats.org/officeDocument/2006/relationships/hyperlink" Target="https://en.wikipedia.org/wiki/Earth_ellipsoid" TargetMode="External"/><Relationship Id="rId8" Type="http://schemas.openxmlformats.org/officeDocument/2006/relationships/hyperlink" Target="https://en.wikipedia.org/wiki/GRS_80" TargetMode="External"/><Relationship Id="rId9" Type="http://schemas.openxmlformats.org/officeDocument/2006/relationships/hyperlink" Target="https://en.wikipedia.org/wiki/Geoid" TargetMode="External"/><Relationship Id="rId10" Type="http://schemas.openxmlformats.org/officeDocument/2006/relationships/hyperlink" Target="https://en.wikipedia.org/wiki/Earth_Gravitational_Model" TargetMode="External"/><Relationship Id="rId11" Type="http://schemas.openxmlformats.org/officeDocument/2006/relationships/hyperlink" Target="https://en.wikipedia.org/wiki/Orthometric_height" TargetMode="External"/><Relationship Id="rId12" Type="http://schemas.openxmlformats.org/officeDocument/2006/relationships/hyperlink" Target="https://en.wikipedia.org/wiki/Geodetic_datum" TargetMode="External"/><Relationship Id="rId13" Type="http://schemas.openxmlformats.org/officeDocument/2006/relationships/hyperlink" Target="https://en.wikipedia.org/wiki/Figure_of_the_Earth" TargetMode="External"/><Relationship Id="rId14" Type="http://schemas.openxmlformats.org/officeDocument/2006/relationships/hyperlink" Target="https://en.wikipedia.org/wiki/Geographic_coordinate_system" TargetMode="External"/><Relationship Id="rId15" Type="http://schemas.openxmlformats.org/officeDocument/2006/relationships/hyperlink" Target="https://en.wikipedia.org/wiki/Latitude" TargetMode="External"/><Relationship Id="rId16" Type="http://schemas.openxmlformats.org/officeDocument/2006/relationships/hyperlink" Target="https://en.wikipedia.org/wiki/Longitude" TargetMode="External"/><Relationship Id="rId17" Type="http://schemas.openxmlformats.org/officeDocument/2006/relationships/hyperlink" Target="https://en.wikipedia.org/wiki/Prime_meridian" TargetMode="External"/><Relationship Id="rId18" Type="http://schemas.openxmlformats.org/officeDocument/2006/relationships/hyperlink" Target="https://en.wikipedia.org/wiki/Decimal_degrees" TargetMode="External"/><Relationship Id="rId19" Type="http://schemas.openxmlformats.org/officeDocument/2006/relationships/hyperlink" Target="https://en.wikipedia.org/wiki/NMEA_0183" TargetMode="External"/><Relationship Id="rId20" Type="http://schemas.openxmlformats.org/officeDocument/2006/relationships/hyperlink" Target="https://en.wikipedia.org/wiki/Nautical_mile" TargetMode="External"/><Relationship Id="rId21" Type="http://schemas.openxmlformats.org/officeDocument/2006/relationships/hyperlink" Target="https://en.wikipedia.org/wiki/Earth-centered,_Earth-fixed_coordinate_system" TargetMode="External"/><Relationship Id="rId22" Type="http://schemas.openxmlformats.org/officeDocument/2006/relationships/hyperlink" Target="https://en.wikipedia.org/wiki/Helmert_transformation" TargetMode="External"/><Relationship Id="rId23" Type="http://schemas.openxmlformats.org/officeDocument/2006/relationships/hyperlink" Target="https://en.wikipedia.org/wiki/Local_tangent_plane_coordinates" TargetMode="External"/><Relationship Id="rId24" Type="http://schemas.openxmlformats.org/officeDocument/2006/relationships/hyperlink" Target="https://en.wikipedia.org/wiki/List_of_map_projections" TargetMode="External"/><Relationship Id="rId25" Type="http://schemas.openxmlformats.org/officeDocument/2006/relationships/hyperlink" Target="https://en.wikipedia.org/wiki/Theorema_Egregium" TargetMode="External"/><Relationship Id="rId26" Type="http://schemas.openxmlformats.org/officeDocument/2006/relationships/hyperlink" Target="https://en.wikipedia.org/wiki/Gnomonic_projection" TargetMode="External"/><Relationship Id="rId27" Type="http://schemas.openxmlformats.org/officeDocument/2006/relationships/hyperlink" Target="https://en.wikipedia.org/wiki/Lambert_azimuthal_equal-area_projection" TargetMode="External"/><Relationship Id="rId28" Type="http://schemas.openxmlformats.org/officeDocument/2006/relationships/hyperlink" Target="https://en.wikipedia.org/wiki/Tissot%27s_indicatrix" TargetMode="External"/><Relationship Id="rId29" Type="http://schemas.openxmlformats.org/officeDocument/2006/relationships/hyperlink" Target="https://en.wikipedia.org/wiki/Mercator_projection" TargetMode="External"/><Relationship Id="rId30" Type="http://schemas.openxmlformats.org/officeDocument/2006/relationships/hyperlink" Target="https://en.wikipedia.org/wiki/Gall%E2%80%93Peters_projection" TargetMode="External"/><Relationship Id="rId31" Type="http://schemas.openxmlformats.org/officeDocument/2006/relationships/hyperlink" Target="https://en.wikipedia.org/wiki/Equal_Earth_projection" TargetMode="External"/><Relationship Id="rId32" Type="http://schemas.openxmlformats.org/officeDocument/2006/relationships/hyperlink" Target="https://en.wikipedia.org/wiki/Robinson_projection" TargetMode="External"/><Relationship Id="rId33" Type="http://schemas.openxmlformats.org/officeDocument/2006/relationships/hyperlink" Target="https://en.wikipedia.org/wiki/Central_cylindrical_projection" TargetMode="External"/><Relationship Id="rId34" Type="http://schemas.openxmlformats.org/officeDocument/2006/relationships/hyperlink" Target="https://en.wikipedia.org/wiki/Web_Mercator_projection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en.wikipedia.org/wiki/Rhumb_line" TargetMode="External"/><Relationship Id="rId4" Type="http://schemas.openxmlformats.org/officeDocument/2006/relationships/hyperlink" Target="https://en.wikipedia.org/wiki/Great_circle" TargetMode="External"/><Relationship Id="rId5" Type="http://schemas.openxmlformats.org/officeDocument/2006/relationships/hyperlink" Target="https://en.wikipedia.org/wiki/Great-circle_navigation" TargetMode="External"/><Relationship Id="rId6" Type="http://schemas.openxmlformats.org/officeDocument/2006/relationships/hyperlink" Target="https://en.wikipedia.org/wiki/Transverse_Mercator_projection" TargetMode="External"/><Relationship Id="rId7" Type="http://schemas.openxmlformats.org/officeDocument/2006/relationships/hyperlink" Target="https://en.wikipedia.org/wiki/Universal_Transverse_Mercator_coordinate_system" TargetMode="External"/><Relationship Id="rId8" Type="http://schemas.openxmlformats.org/officeDocument/2006/relationships/hyperlink" Target="https://en.wikipedia.org/wiki/Universal_polar_stereographic_coordinate_system" TargetMode="External"/><Relationship Id="rId9" Type="http://schemas.openxmlformats.org/officeDocument/2006/relationships/hyperlink" Target="https://en.wikipedia.org/wiki/Military_Grid_Reference_System" TargetMode="External"/><Relationship Id="rId10" Type="http://schemas.openxmlformats.org/officeDocument/2006/relationships/hyperlink" Target="https://en.wikipedia.org/wiki/EPSG_Geodetic_Parameter_Dataset" TargetMode="External"/><Relationship Id="rId11" Type="http://schemas.openxmlformats.org/officeDocument/2006/relationships/hyperlink" Target="https://en.wikipedia.org/wiki/European_Terrestrial_Reference_System_1989" TargetMode="External"/><Relationship Id="rId12" Type="http://schemas.openxmlformats.org/officeDocument/2006/relationships/hyperlink" Target="https://en.wikipedia.org/wiki/Gauss%E2%80%93Kr%C3%BCger_coordinate_system" TargetMode="External"/><Relationship Id="rId13" Type="http://schemas.openxmlformats.org/officeDocument/2006/relationships/hyperlink" Target="https://en.wikipedia.org/wiki/Spatial_reference_system" TargetMode="External"/><Relationship Id="rId14" Type="http://schemas.openxmlformats.org/officeDocument/2006/relationships/hyperlink" Target="https://en.wikipedia.org/wiki/Helmert_transformation" TargetMode="External"/><Relationship Id="rId15" Type="http://schemas.openxmlformats.org/officeDocument/2006/relationships/hyperlink" Target="https://en.wikipedia.org/wiki/Geodetic_datum" TargetMode="External"/><Relationship Id="rId16" Type="http://schemas.openxmlformats.org/officeDocument/2006/relationships/hyperlink" Target="https://en.wikipedia.org/wiki/Normal_height" TargetMode="External"/><Relationship Id="rId17" Type="http://schemas.openxmlformats.org/officeDocument/2006/relationships/hyperlink" Target="https://en.wikipedia.org/wiki/Geoid" TargetMode="External"/><Relationship Id="rId18" Type="http://schemas.openxmlformats.org/officeDocument/2006/relationships/hyperlink" Target="https://en.wikipedia.org/wiki/International_Terrestrial_Reference_System_and_Frame" TargetMode="External"/><Relationship Id="rId19" Type="http://schemas.openxmlformats.org/officeDocument/2006/relationships/hyperlink" Target="https://en.wikipedia.org/wiki/Plate_tectonic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/>
              </a:rPr>
              <a:t>Coordinate reference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5D6D7E"/>
                </a:solidFill>
              </a:rPr>
              <a:t>Shape of the Earth, coordinates, map projections and CRS in practice</a:t>
            </a:r>
          </a:p>
          <a:p>
            <a:r>
              <a:rPr>
                <a:solidFill>
                  <a:srgbClr val="5D6D7E"/>
                </a:solidFill>
              </a:rPr>
              <a:t>Examples: NRW, Kamp-Lintfort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From the Earth to a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earth_to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09" y="1051560"/>
            <a:ext cx="103051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A coordinate is only meaningful together with its CRS.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CRS = datum (ellipsoid + position) + coordinate system (+ projection, units, axes)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5120640"/>
            <a:ext cx="2212848" cy="640080"/>
          </a:xfrm>
          <a:prstGeom prst="homePlate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Shape of the Earth</a:t>
            </a:r>
          </a:p>
        </p:txBody>
      </p:sp>
      <p:sp>
        <p:nvSpPr>
          <p:cNvPr id="8" name="Chevron 7"/>
          <p:cNvSpPr/>
          <p:nvPr/>
        </p:nvSpPr>
        <p:spPr>
          <a:xfrm>
            <a:off x="2779776" y="512064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Coordinates</a:t>
            </a:r>
          </a:p>
        </p:txBody>
      </p:sp>
      <p:sp>
        <p:nvSpPr>
          <p:cNvPr id="9" name="Chevron 8"/>
          <p:cNvSpPr/>
          <p:nvPr/>
        </p:nvSpPr>
        <p:spPr>
          <a:xfrm>
            <a:off x="5010912" y="512064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Map projections</a:t>
            </a:r>
          </a:p>
        </p:txBody>
      </p:sp>
      <p:sp>
        <p:nvSpPr>
          <p:cNvPr id="10" name="Chevron 9"/>
          <p:cNvSpPr/>
          <p:nvPr/>
        </p:nvSpPr>
        <p:spPr>
          <a:xfrm>
            <a:off x="7242048" y="512064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Germany / NRW</a:t>
            </a:r>
          </a:p>
        </p:txBody>
      </p:sp>
      <p:sp>
        <p:nvSpPr>
          <p:cNvPr id="11" name="Chevron 10"/>
          <p:cNvSpPr/>
          <p:nvPr/>
        </p:nvSpPr>
        <p:spPr>
          <a:xfrm>
            <a:off x="9473184" y="512064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CRS in practice</a:t>
            </a:r>
          </a:p>
        </p:txBody>
      </p:sp>
      <p:sp>
        <p:nvSpPr>
          <p:cNvPr id="12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Spatial reference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Map projection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1  Shape of the Earth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ellipsoid · geoid · datum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48640" y="5440680"/>
            <a:ext cx="2212848" cy="640080"/>
          </a:xfrm>
          <a:prstGeom prst="homePlate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Shape of the Earth</a:t>
            </a:r>
          </a:p>
        </p:txBody>
      </p:sp>
      <p:sp>
        <p:nvSpPr>
          <p:cNvPr id="7" name="Chevron 6"/>
          <p:cNvSpPr/>
          <p:nvPr/>
        </p:nvSpPr>
        <p:spPr>
          <a:xfrm>
            <a:off x="2779776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Coordinates</a:t>
            </a:r>
          </a:p>
        </p:txBody>
      </p:sp>
      <p:sp>
        <p:nvSpPr>
          <p:cNvPr id="8" name="Chevron 7"/>
          <p:cNvSpPr/>
          <p:nvPr/>
        </p:nvSpPr>
        <p:spPr>
          <a:xfrm>
            <a:off x="5010912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Map projections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7242048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Germany / NRW</a:t>
            </a:r>
          </a:p>
        </p:txBody>
      </p:sp>
      <p:sp>
        <p:nvSpPr>
          <p:cNvPr id="10" name="Chevron 9"/>
          <p:cNvSpPr/>
          <p:nvPr/>
        </p:nvSpPr>
        <p:spPr>
          <a:xfrm>
            <a:off x="9473184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CRS in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WGS 84: the ellipsoid with a, b and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wgs84_ellips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62" y="1188720"/>
            <a:ext cx="486307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280160"/>
            <a:ext cx="512064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Used by GPS, EPSG:4326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Origin: Earth's centre of mass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a</a:t>
            </a:r>
            <a:r>
              <a:rPr sz="2200" b="0" i="0">
                <a:solidFill>
                  <a:srgbClr val="2C3E50"/>
                </a:solidFill>
              </a:rPr>
              <a:t> = 6 378 137 m (equator)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b</a:t>
            </a:r>
            <a:r>
              <a:rPr sz="2200" b="0" i="0">
                <a:solidFill>
                  <a:srgbClr val="2C3E50"/>
                </a:solidFill>
              </a:rPr>
              <a:t> = 6 356 752 m (pole)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f</a:t>
            </a:r>
            <a:r>
              <a:rPr sz="2200" b="0" i="0">
                <a:solidFill>
                  <a:srgbClr val="2C3E50"/>
                </a:solidFill>
              </a:rPr>
              <a:t> = (a − b) / a = 1 / 298.257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5D6D7E"/>
                </a:solidFill>
              </a:rPr>
              <a:t>R₁</a:t>
            </a:r>
            <a:r>
              <a:rPr sz="2200" b="0" i="0">
                <a:solidFill>
                  <a:srgbClr val="2C3E50"/>
                </a:solidFill>
              </a:rPr>
              <a:t> = (2a + b) / 3 = 6 371 km</a:t>
            </a:r>
            <a:br/>
            <a:r>
              <a:rPr sz="2200" b="0" i="0">
                <a:solidFill>
                  <a:srgbClr val="2C3E50"/>
                </a:solidFill>
              </a:rPr>
              <a:t>(mean radius)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World Geodetic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Flattening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Reference ellipsoids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874519"/>
                <a:gridCol w="1874519"/>
                <a:gridCol w="196596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Ellipsoid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a [m]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b [m]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1 / f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used by (datum · EPSG)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GRS80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6 378 137.000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6 356 752.314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298.257222101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ETRS89 · EPSG:4258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WGS84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6 378 137.000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6 356 752.314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298.257223563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WGS 84 · EPSG:4326 (GPS)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Bessel 1841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6 377 397.155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6 356 078.963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299.1528128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DHDN · EPSG:4314 (DE, old)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Clarke 1866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6 378 206.400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6 356 583.800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294.978698214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NAD27 · EPSG:4267 (US, old)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code"/>
          <p:cNvSpPr/>
          <p:nvPr/>
        </p:nvSpPr>
        <p:spPr>
          <a:xfrm>
            <a:off x="548640" y="3931920"/>
            <a:ext cx="6949440" cy="182880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from pyproj import CRS, Geod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CRS("EPSG:25832").ellipsoid      # GRS 1980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 = Geod(ellps="GRS80"); g.a, g.b, 1/g.f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931920"/>
            <a:ext cx="3886200" cy="1828800"/>
          </a:xfrm>
          <a:prstGeom prst="round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3000" b="1" i="0">
                <a:solidFill>
                  <a:srgbClr val="1F6391"/>
                </a:solidFill>
              </a:rPr>
              <a:t>a − b ≈ 21.4 km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flattening f = (a − b) / a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f ≈ 1 : 298, round to 0.3 %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Earth ellipsoid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GRS 80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World Geodetic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Flattening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The geoid: where is 'zero height'?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oid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91" y="1143000"/>
            <a:ext cx="5127696" cy="3246119"/>
          </a:xfrm>
          <a:prstGeom prst="rect">
            <a:avLst/>
          </a:prstGeom>
        </p:spPr>
      </p:pic>
      <p:pic>
        <p:nvPicPr>
          <p:cNvPr id="6" name="Picture 5" descr="geoid_egm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900" y="1143000"/>
            <a:ext cx="4446998" cy="3337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572000"/>
            <a:ext cx="11064240" cy="1188719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3108960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3A57"/>
                </a:solidFill>
              </a:rPr>
              <a:t>h = H +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617720"/>
            <a:ext cx="7955279" cy="1143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6391"/>
                </a:solidFill>
              </a:rPr>
              <a:t>h </a:t>
            </a:r>
            <a:r>
              <a:rPr sz="2200" b="0" i="0">
                <a:solidFill>
                  <a:srgbClr val="2C3E50"/>
                </a:solidFill>
              </a:rPr>
              <a:t>GNSS   </a:t>
            </a:r>
            <a:r>
              <a:rPr sz="2200" b="1" i="0">
                <a:solidFill>
                  <a:srgbClr val="8E44AD"/>
                </a:solidFill>
              </a:rPr>
              <a:t>H </a:t>
            </a:r>
            <a:r>
              <a:rPr sz="2200" b="0" i="0">
                <a:solidFill>
                  <a:srgbClr val="2C3E50"/>
                </a:solidFill>
              </a:rPr>
              <a:t>maps, DEM   </a:t>
            </a:r>
            <a:r>
              <a:rPr sz="2200" b="1" i="0">
                <a:solidFill>
                  <a:srgbClr val="A84300"/>
                </a:solidFill>
              </a:rPr>
              <a:t>N </a:t>
            </a:r>
            <a:r>
              <a:rPr sz="2200" b="0" i="0">
                <a:solidFill>
                  <a:srgbClr val="2C3E50"/>
                </a:solidFill>
              </a:rPr>
              <a:t>geoid height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2C3E50"/>
                </a:solidFill>
              </a:rPr>
              <a:t>NRW: GNSS height ≈ map height + 45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Geoid: EGM96 (NGA/NASA, public domain) via PROJ-data. Coastlines and borders: Natural Earth (public domain). Cross-section schematic, vertical scale exaggerated.</a:t>
            </a:r>
          </a:p>
        </p:txBody>
      </p:sp>
      <p:sp>
        <p:nvSpPr>
          <p:cNvPr id="11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5"/>
              </a:rPr>
              <a:t>Geoid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Earth Gravitational Model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7"/>
              </a:rPr>
              <a:t>Orthometric height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Datum: where does the ellipsoid sit?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datum_global_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62936"/>
            <a:ext cx="6766559" cy="3686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1554480"/>
            <a:ext cx="4206240" cy="4023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4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Global: </a:t>
            </a:r>
            <a:r>
              <a:rPr sz="2200" b="0" i="0">
                <a:solidFill>
                  <a:srgbClr val="2C3E50"/>
                </a:solidFill>
              </a:rPr>
              <a:t>centre = centre of mass,</a:t>
            </a:r>
            <a:br/>
            <a:r>
              <a:rPr sz="2200" b="0" i="0">
                <a:solidFill>
                  <a:srgbClr val="2C3E50"/>
                </a:solidFill>
              </a:rPr>
              <a:t>used by GNSS</a:t>
            </a:r>
          </a:p>
          <a:p>
            <a:pPr algn="l" marL="256032" indent="-228600">
              <a:spcAft>
                <a:spcPts val="14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Regional: </a:t>
            </a:r>
            <a:r>
              <a:rPr sz="2200" b="0" i="0">
                <a:solidFill>
                  <a:srgbClr val="2C3E50"/>
                </a:solidFill>
              </a:rPr>
              <a:t>fits one country closely</a:t>
            </a:r>
            <a:br/>
            <a:r>
              <a:rPr sz="2200" b="0" i="0">
                <a:solidFill>
                  <a:srgbClr val="2C3E50"/>
                </a:solidFill>
              </a:rPr>
              <a:t>(Bessel / DHDN),</a:t>
            </a:r>
            <a:br/>
            <a:r>
              <a:rPr sz="2200" b="0" i="0">
                <a:solidFill>
                  <a:srgbClr val="2C3E50"/>
                </a:solidFill>
              </a:rPr>
              <a:t>centre ≈ 0.7 km off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Geodetic datum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Figure of the Earth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2  Coordinates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φ, λ, h · X, Y,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48640" y="5440680"/>
            <a:ext cx="2212848" cy="640080"/>
          </a:xfrm>
          <a:prstGeom prst="homePlate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Shape of the Earth</a:t>
            </a:r>
          </a:p>
        </p:txBody>
      </p:sp>
      <p:sp>
        <p:nvSpPr>
          <p:cNvPr id="7" name="Chevron 6"/>
          <p:cNvSpPr/>
          <p:nvPr/>
        </p:nvSpPr>
        <p:spPr>
          <a:xfrm>
            <a:off x="2779776" y="544068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Coordinates</a:t>
            </a:r>
          </a:p>
        </p:txBody>
      </p:sp>
      <p:sp>
        <p:nvSpPr>
          <p:cNvPr id="8" name="Chevron 7"/>
          <p:cNvSpPr/>
          <p:nvPr/>
        </p:nvSpPr>
        <p:spPr>
          <a:xfrm>
            <a:off x="5010912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Map projections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7242048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Germany / NRW</a:t>
            </a:r>
          </a:p>
        </p:txBody>
      </p:sp>
      <p:sp>
        <p:nvSpPr>
          <p:cNvPr id="10" name="Chevron 9"/>
          <p:cNvSpPr/>
          <p:nvPr/>
        </p:nvSpPr>
        <p:spPr>
          <a:xfrm>
            <a:off x="9473184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CRS in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Geographic coordinates: latitude φ and longitude 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latl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06" y="1244127"/>
            <a:ext cx="4802227" cy="4516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234440"/>
            <a:ext cx="594360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A84300"/>
                </a:solidFill>
              </a:rPr>
              <a:t>λ longitude: </a:t>
            </a:r>
            <a:r>
              <a:rPr sz="2200" b="0" i="0">
                <a:solidFill>
                  <a:srgbClr val="2C3E50"/>
                </a:solidFill>
              </a:rPr>
              <a:t>east + / west −, from the prime meridian, −180° … +180°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φ latitude: </a:t>
            </a:r>
            <a:r>
              <a:rPr sz="2200" b="0" i="0">
                <a:solidFill>
                  <a:srgbClr val="2C3E50"/>
                </a:solidFill>
              </a:rPr>
              <a:t>north + / south −, from the equator, −90° … +90°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h </a:t>
            </a:r>
            <a:r>
              <a:rPr sz="2200" b="0" i="0">
                <a:solidFill>
                  <a:srgbClr val="2C3E50"/>
                </a:solidFill>
              </a:rPr>
              <a:t>ellipsoidal height in m (part 1)</a:t>
            </a:r>
          </a:p>
          <a:p>
            <a:pPr algn="l" marL="256032" indent="-228600">
              <a:spcAft>
                <a:spcPts val="12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Kamp-Lintfort: </a:t>
            </a:r>
            <a:r>
              <a:rPr sz="2200" b="0" i="0">
                <a:solidFill>
                  <a:srgbClr val="2C3E50"/>
                </a:solidFill>
              </a:rPr>
              <a:t>(φ, λ) = (51.5°, +6.53°)</a:t>
            </a:r>
            <a:br/>
            <a:r>
              <a:rPr sz="2200" b="0" i="0">
                <a:solidFill>
                  <a:srgbClr val="2C3E50"/>
                </a:solidFill>
              </a:rPr>
              <a:t>= (51.5° N, 6.53°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4480560"/>
            <a:ext cx="5943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D6D7E"/>
                </a:solidFill>
              </a:rPr>
              <a:t>On the ellipsoid φ is the angle of the surface normal, not of the line to the centre (difference up to 0.19°).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Geographic coordinate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Latitude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Longitude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7"/>
              </a:rPr>
              <a:t>Prime meridian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Writing degrees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38328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notation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latitude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longitude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degrees, minutes, seconds (DMS)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51° 30′ 00″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6° 32′ 00″ 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degrees, decimal minutes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51° 30.000′ N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6° 32.000′ 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decimal degrees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51.500000°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+6.533333°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Boston, signed (west &lt; 0)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42.3601°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−71.0589°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code"/>
          <p:cNvSpPr/>
          <p:nvPr/>
        </p:nvSpPr>
        <p:spPr>
          <a:xfrm>
            <a:off x="548640" y="4023360"/>
            <a:ext cx="11064240" cy="1737359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lat = 51 + 30/60 + 0/3600  # DMS -&gt; decimal degrees: 51.5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deg = int(lat)             # whole degrees: 51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mins = (lat - deg) * 60    # decimal minutes: 30.000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f"{lat:.6f}"             # 6 decimals (≈ 0.1 m): '51.500000'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Decimal degrees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NMEA 0183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How long is a degree?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degree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5152"/>
            <a:ext cx="5120640" cy="361905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234440"/>
          <a:ext cx="5760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NRW (φ ≈ 51.5°)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north–south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east–west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111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69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1′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1.85 km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1.16 km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31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19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0.00001°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1.1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≈ 0.7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3931920"/>
            <a:ext cx="57607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1′ N–S ≈ 1 nautical mile · NRW: 2.2° ≈ 245 km N–S</a:t>
            </a:r>
          </a:p>
        </p:txBody>
      </p:sp>
      <p:sp>
        <p:nvSpPr>
          <p:cNvPr id="8" name="code"/>
          <p:cNvSpPr/>
          <p:nvPr/>
        </p:nvSpPr>
        <p:spPr>
          <a:xfrm>
            <a:off x="5852160" y="4709160"/>
            <a:ext cx="5760720" cy="1051559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 = Geod(ellps="GRS80")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g.inv(6, 51.5, 7, 51.5)[2]  # 69 440 m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g.inv(7, 51, 7, 52)[2]      # 111 258 m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Nautical mile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Geographic coordinate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Geocentric coordinates X, Y, 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ecef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81" y="1186665"/>
            <a:ext cx="4745878" cy="4574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59436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Origin: centre of mass, Z: rotation axis</a:t>
            </a:r>
          </a:p>
          <a:p>
            <a:pPr algn="l" marL="256032" indent="-228600">
              <a:spcAft>
                <a:spcPts val="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X: (φ, λ) = (0°, 0°) = (0° N, 0° E)</a:t>
            </a:r>
          </a:p>
          <a:p>
            <a:pPr algn="l" marL="256032" indent="-228600">
              <a:spcAft>
                <a:spcPts val="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Y: (φ, λ) = (0°, +90°) = (0° N, 90° E)</a:t>
            </a:r>
          </a:p>
          <a:p>
            <a:pPr algn="l" marL="256032" indent="-228600">
              <a:spcAft>
                <a:spcPts val="4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Cartesian, metres, no projection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0" y="297180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Kamp-Lintfort (ETRS89)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3 952 854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Y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452 700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4 968 417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ode"/>
          <p:cNvSpPr/>
          <p:nvPr/>
        </p:nvSpPr>
        <p:spPr>
          <a:xfrm>
            <a:off x="5669280" y="4754880"/>
            <a:ext cx="5943600" cy="1005839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t = Transformer.from_crs(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    4937, 4936, always_xy=True)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t.transform(6.5333, 51.5, 70)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Earth-centered, Earth-fixed coordinate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Helmert transformation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Kamp-Lintfort in four 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6766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notation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51° 30′ 00″ N
6° 32′ 00″ 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decimal (φ, λ)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(51.500000°, +6.533333°)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(X, Y, Z) [m]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(3 952 854, 452 700,
 4 968 417)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UTM 32N (E, N) [m]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(328 794, 5 708 314)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234440"/>
            <a:ext cx="4023360" cy="4709160"/>
          </a:xfrm>
          <a:prstGeom prst="roundRect">
            <a:avLst/>
          </a:prstGeom>
          <a:solidFill>
            <a:srgbClr val="F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8E44AD"/>
                </a:solidFill>
              </a:rPr>
              <a:t>Pause: which city?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6576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40° 42′ 46″ N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74° 00′ 22″ W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(40.7128°, −74.0060°)</a:t>
            </a:r>
          </a:p>
          <a:p>
            <a:pPr algn="l">
              <a:spcAft>
                <a:spcPts val="0"/>
              </a:spcAft>
            </a:pP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UTM 18N (E, N):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C3E50"/>
                </a:solidFill>
              </a:rPr>
              <a:t>(583 959, 4 507 351)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07492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C3E50"/>
                </a:solidFill>
              </a:rPr>
              <a:t>1 minute with your neighbour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676656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Same place, different numbers: always state the CRS.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Compare the UTM values of the two cities.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Answer: New York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which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3414"/>
            <a:ext cx="11064240" cy="3431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C3E50"/>
                </a:solidFill>
              </a:rPr>
              <a:t>11° further south than Kamp-Lintfort. West of Greenwich λ &lt; 0: without the minus sign you land in Kyrgyzstan.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3  Map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surfaces · distortion · UTM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48640" y="5440680"/>
            <a:ext cx="2212848" cy="640080"/>
          </a:xfrm>
          <a:prstGeom prst="homePlate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Shape of the Earth</a:t>
            </a:r>
          </a:p>
        </p:txBody>
      </p:sp>
      <p:sp>
        <p:nvSpPr>
          <p:cNvPr id="7" name="Chevron 6"/>
          <p:cNvSpPr/>
          <p:nvPr/>
        </p:nvSpPr>
        <p:spPr>
          <a:xfrm>
            <a:off x="2779776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Coordinates</a:t>
            </a:r>
          </a:p>
        </p:txBody>
      </p:sp>
      <p:sp>
        <p:nvSpPr>
          <p:cNvPr id="8" name="Chevron 7"/>
          <p:cNvSpPr/>
          <p:nvPr/>
        </p:nvSpPr>
        <p:spPr>
          <a:xfrm>
            <a:off x="5010912" y="544068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Map projections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7242048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Germany / NRW</a:t>
            </a:r>
          </a:p>
        </p:txBody>
      </p:sp>
      <p:sp>
        <p:nvSpPr>
          <p:cNvPr id="10" name="Chevron 9"/>
          <p:cNvSpPr/>
          <p:nvPr/>
        </p:nvSpPr>
        <p:spPr>
          <a:xfrm>
            <a:off x="9473184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CRS in practice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Locally flat: the tangent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tangent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82" y="1143000"/>
            <a:ext cx="465563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234440"/>
            <a:ext cx="557784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Near P the Earth is almost flat: the tangent plane is a local map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Local coordinates East, North, Up in metres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Lengths fine to ≈ 10 km,</a:t>
            </a:r>
            <a:br/>
            <a:r>
              <a:rPr sz="2200" b="0" i="0">
                <a:solidFill>
                  <a:srgbClr val="2C3E50"/>
                </a:solidFill>
              </a:rPr>
              <a:t>heights not: curvature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365760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distance from P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plane above sphere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length error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8 cm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&lt; 1 mm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10 km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7.8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8 mm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100 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785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8.2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Local tangent plane coordinates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From the ellipsoid to the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projection_sur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53" y="1143000"/>
            <a:ext cx="10491412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A projection is a formula (φ, λ) → (x, y); a sphere cannot be flattened without distortion.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No distortion along the line of contact; the surface can be normal, transverse or oblique.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Map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List of map projections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What can a projection preserve?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  <a:gridCol w="2651760"/>
                <a:gridCol w="30175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projection class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invariant: what is preserved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where it holds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examples (EPSG)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conformal
(orthomorphic)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angles, shapes of small areas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everywhere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Mercator (3395), UTM (25832), stereographic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equal-area
(equivalent, authalic)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areas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everywhere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LAEA (3035), Equal Earth (8857), Gall–Peters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equidistant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distances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from one or two points, or along certain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azimuthal equidistant, Plate Carrée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azimuthal
(zenithal)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directions (azimuths)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only from the centre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stereographic, LAEA, gnomonic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gnomonic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great circles as straight lines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whole map (&lt; hemisphere)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gnomonic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64240" cy="5029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3A57"/>
                </a:solidFill>
              </a:rPr>
              <a:t>No projection is both conformal and equal-area. </a:t>
            </a:r>
            <a:r>
              <a:rPr sz="2200" b="0" i="0">
                <a:solidFill>
                  <a:srgbClr val="2C3E50"/>
                </a:solidFill>
              </a:rPr>
              <a:t>Azimuthal combines with the others.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Map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Theorema Egregium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Six projections, six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projection_proper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187" y="1097280"/>
            <a:ext cx="9205145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3A57"/>
                </a:solidFill>
              </a:rPr>
              <a:t>Each projection keeps one property: choose the projection by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List of map projections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Gnomonic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Lambert azimuthal equal-area projection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Tissot's indicatrix: one circle, many places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tissot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127"/>
            <a:ext cx="11064240" cy="3219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On the globe all circles are equal (rim flattening is perspective).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Same cylinder, opposite property: Mercator keeps shapes, Gall–Peters keeps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Tissot's indicatrix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Mercator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Gall–Peters projection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Tissot's indicatrix: more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tiss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5648"/>
            <a:ext cx="11064240" cy="21008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Plate Carrée = (φ, λ) plotted directly: stretched east–west.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Equal Earth: equal-area, natural shapes. Robinson: compromise.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Tissot's indicatrix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Equal Earth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Robinson projection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Mercator: the cylinder touches the equator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cylinder_merc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200" y="1097280"/>
            <a:ext cx="9363118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C3E50"/>
                </a:solidFill>
              </a:rPr>
              <a:t>Exact along the equator, increasingly stretched towards the poles.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Mercator projection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How the Mercator map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mercator_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258"/>
            <a:ext cx="5669280" cy="4244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234440"/>
            <a:ext cx="5285232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Rays from the centre give a different map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Mercator: east–west stretch 1/cos φ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Keep shapes ⇒ same stretch north–south: Δy = R Δφ / cos φ</a:t>
            </a:r>
          </a:p>
        </p:txBody>
      </p:sp>
      <p:sp>
        <p:nvSpPr>
          <p:cNvPr id="7" name="code"/>
          <p:cNvSpPr/>
          <p:nvPr/>
        </p:nvSpPr>
        <p:spPr>
          <a:xfrm>
            <a:off x="6355080" y="3108960"/>
            <a:ext cx="5285232" cy="260604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d = np.radians(1/60)  # 1′ step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midpoints of all 1′ strips to 75°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phi = np.arange(d/2,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            np.radians(75), d)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Wright: add up Δy = Δφ / cos φ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y = np.sum(d/np.cos(phi))  # 2.0276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formula: y = ln tan(45° + φ/2)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np.log(np.tan(np.pi/4 +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   np.radians(75)/2))  # 2.0276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Mercator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Central cylindrical projection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Mercator: true angles, wrong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mercator_true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834" y="1143000"/>
            <a:ext cx="3067291" cy="4572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69480" y="1280160"/>
          <a:ext cx="4343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280160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million km²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Greenland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Africa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true 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29.9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69480" y="2514600"/>
            <a:ext cx="434340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Africa is 14 × larger than Greenland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On Mercator, Greenland looks even larger than Africa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Scale grows with 1 / cos φ:</a:t>
            </a:r>
            <a:br/>
            <a:r>
              <a:rPr sz="2200" b="0" i="0">
                <a:solidFill>
                  <a:srgbClr val="2C3E50"/>
                </a:solidFill>
              </a:rPr>
              <a:t>×2 at 60°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4983480"/>
            <a:ext cx="4343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C3E50"/>
                </a:solidFill>
              </a:rPr>
              <a:t>Try it: </a:t>
            </a:r>
            <a:r>
              <a:rPr sz="2200" b="0" i="0" u="sng">
                <a:solidFill>
                  <a:srgbClr val="1F6391"/>
                </a:solidFill>
                <a:hlinkClick r:id="rId4"/>
              </a:rPr>
              <a:t>thetruesize.com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10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5"/>
              </a:rPr>
              <a:t>Mercator projection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Web Mercator projection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Rhumb line or great circle?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rhumb_grea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43" y="1143000"/>
            <a:ext cx="9624032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C3E50"/>
                </a:solidFill>
              </a:rPr>
              <a:t>Shortest is not straight on the map: the great circle saves 294 km.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Rhumb line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Great circle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6"/>
              </a:rPr>
              <a:t>Great-circle navigation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Transverse Mercator: the cylinder turned sideways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cylinder_transverse_merc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07" y="1097280"/>
            <a:ext cx="1007230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C3E50"/>
                </a:solidFill>
              </a:rPr>
              <a:t>Exact along the central meridian: used in narrow strips (Gauss-Krüger 3°, UTM 6°).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Transverse Mercator projection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UTM: the secant cylinder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utm_secant_cyli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20" y="1097280"/>
            <a:ext cx="10394679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3A57"/>
                </a:solidFill>
              </a:rPr>
              <a:t>× 0.9996: tangent → secant cylinder, </a:t>
            </a:r>
            <a:r>
              <a:rPr sz="2200" b="0" i="0">
                <a:solidFill>
                  <a:srgbClr val="2C3E50"/>
                </a:solidFill>
              </a:rPr>
              <a:t>true scale ≈ 181 km east and 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Transverse Mercator coordinate system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UTM: 60 zones around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utm_world_bluemar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98" y="1097280"/>
            <a:ext cx="8977122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Background: NASA Blue Marble (public domain). Grid: own work.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Polar Stereographic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Military Grid Reference System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UTM: 60 zones around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utm_world_rel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98" y="1097280"/>
            <a:ext cx="8977122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Background: Natural Earth shaded relief (public domain). Grid: own work.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Polar Stereographic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Military Grid Reference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UTM in Europe: zone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utm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066" y="1143000"/>
            <a:ext cx="6025706" cy="461771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43800" y="1234440"/>
          <a:ext cx="4069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zone 32N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longitudes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6° … 12° 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central meridian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9° 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scale factor k₀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0.9996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false easting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500 000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datum (Germany)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ETRS89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EPSG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25832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4572000"/>
            <a:ext cx="4069080" cy="118871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C3E50"/>
                </a:solidFill>
              </a:rPr>
              <a:t>Kamp-Lintfort: zone 32, band U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2C3E50"/>
                </a:solidFill>
              </a:rPr>
              <a:t>(E, N) = (328 794 m, 5 708 314 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Transverse Mercator coordinate 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How exact is UTM in NRW?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utm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159380"/>
            <a:ext cx="5760720" cy="3624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37960" y="1234440"/>
            <a:ext cx="5074920" cy="2651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Central meridian: −40 cm per km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True scale ≈ 181 km east and west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Zone edge (φ = 51.5°): +13 cm per km</a:t>
            </a:r>
          </a:p>
        </p:txBody>
      </p:sp>
      <p:sp>
        <p:nvSpPr>
          <p:cNvPr id="7" name="code"/>
          <p:cNvSpPr/>
          <p:nvPr/>
        </p:nvSpPr>
        <p:spPr>
          <a:xfrm>
            <a:off x="6537960" y="3566160"/>
            <a:ext cx="5102352" cy="141732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p = Proj("EPSG:25832")  # UTM 32N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scale factor k at Kamp-Lintfort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f = p.get_factors(6.5333, 51.5)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f.meridional_scale  # 0.99996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Universal Transverse Mercator coordinate system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Which projection for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291840"/>
                <a:gridCol w="2377440"/>
                <a:gridCol w="14630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projection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EPSG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maps and analysis in NRW / Germany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UTM zone 32N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conformal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25832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statistics and areas in Europe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Lambert azimuthal equal-area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equal-area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3035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world thematic maps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Equal Earth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equal-area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8857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web maps (display only)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Web Mercator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conformal (sphere)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3857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navigation charts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Mercator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conformal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3395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storing and exchanging data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none: (φ, λ)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4326 / 4258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EPSG Geodetic Parameter Dataset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4"/>
              </a:rPr>
              <a:t>European Terrestrial Reference System 1989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/>
              </a:rPr>
              <a:t>4  Germany /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/>
              </a:rPr>
              <a:t>DHDN · Gauss-Krüger · ETRS89 · DHHN2016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6" name="Pentagon 5"/>
          <p:cNvSpPr/>
          <p:nvPr/>
        </p:nvSpPr>
        <p:spPr>
          <a:xfrm>
            <a:off x="548640" y="5440680"/>
            <a:ext cx="2212848" cy="640080"/>
          </a:xfrm>
          <a:prstGeom prst="homePlate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Shape of the Earth</a:t>
            </a:r>
          </a:p>
        </p:txBody>
      </p:sp>
      <p:sp>
        <p:nvSpPr>
          <p:cNvPr id="7" name="Chevron 6"/>
          <p:cNvSpPr/>
          <p:nvPr/>
        </p:nvSpPr>
        <p:spPr>
          <a:xfrm>
            <a:off x="2779776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Coordinates</a:t>
            </a:r>
          </a:p>
        </p:txBody>
      </p:sp>
      <p:sp>
        <p:nvSpPr>
          <p:cNvPr id="8" name="Chevron 7"/>
          <p:cNvSpPr/>
          <p:nvPr/>
        </p:nvSpPr>
        <p:spPr>
          <a:xfrm>
            <a:off x="5010912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Map projections</a:t>
            </a:r>
          </a:p>
        </p:txBody>
      </p:sp>
      <p:sp>
        <p:nvSpPr>
          <p:cNvPr id="9" name="Chevron 8"/>
          <p:cNvSpPr/>
          <p:nvPr/>
        </p:nvSpPr>
        <p:spPr>
          <a:xfrm>
            <a:off x="7242048" y="5440680"/>
            <a:ext cx="2212848" cy="640080"/>
          </a:xfrm>
          <a:prstGeom prst="chevron">
            <a:avLst/>
          </a:prstGeom>
          <a:solidFill>
            <a:srgbClr val="1F6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Germany / NRW</a:t>
            </a:r>
          </a:p>
        </p:txBody>
      </p:sp>
      <p:sp>
        <p:nvSpPr>
          <p:cNvPr id="10" name="Chevron 9"/>
          <p:cNvSpPr/>
          <p:nvPr/>
        </p:nvSpPr>
        <p:spPr>
          <a:xfrm>
            <a:off x="9473184" y="5440680"/>
            <a:ext cx="2212848" cy="640080"/>
          </a:xfrm>
          <a:prstGeom prst="chevron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0" i="0">
                <a:solidFill>
                  <a:srgbClr val="5D6D7E"/>
                </a:solidFill>
              </a:rPr>
              <a:t>CRS in practice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Old and new: DHDN / Gauss-Krüger → ETRS89 / UTM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ermany_gk_u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442116"/>
            <a:ext cx="6126480" cy="392804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234440"/>
          <a:ext cx="484632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91640"/>
                <a:gridCol w="16916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DHDN / GK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ETRS89 / UTM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ellipsoid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Bessel 1841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GRS80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datum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regional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geocentric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zone width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CM in NRW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6° E, 9° 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9° 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k₀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0.9996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 (Kamp-L.)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2 537 078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328 794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EPSG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31466/31467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25832/4647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4754880"/>
            <a:ext cx="48463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A84300"/>
                </a:solidFill>
              </a:rPr>
              <a:t>2</a:t>
            </a:r>
            <a:r>
              <a:rPr sz="2200" b="0" i="0">
                <a:solidFill>
                  <a:srgbClr val="2C3E50"/>
                </a:solidFill>
              </a:rPr>
              <a:t> 537 078: zone 2,</a:t>
            </a:r>
            <a:br/>
            <a:r>
              <a:rPr sz="2200" b="0" i="0">
                <a:solidFill>
                  <a:srgbClr val="2C3E50"/>
                </a:solidFill>
              </a:rPr>
              <a:t>37 km east of 6°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Coastlines and borders: Natural Earth (public domain)</a:t>
            </a:r>
          </a:p>
        </p:txBody>
      </p:sp>
      <p:sp>
        <p:nvSpPr>
          <p:cNvPr id="9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Gauss–Krüger coordinate system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ETRS89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EPSG: a unique ID for every CRS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EPSG</a:t>
            </a:r>
            <a:r>
              <a:rPr sz="2200" b="0" i="0">
                <a:solidFill>
                  <a:srgbClr val="2C3E50"/>
                </a:solidFill>
              </a:rPr>
              <a:t>: European Petroleum Survey Group, registry today run by IOGP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A unique numeric key for every registered CRS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1B3A57"/>
                </a:solidFill>
                <a:hlinkClick r:id="rId3"/>
              </a:rPr>
              <a:t>EPSG:4326</a:t>
            </a:r>
            <a:r>
              <a:rPr sz="2200" b="0" i="0">
                <a:solidFill>
                  <a:srgbClr val="2C3E50"/>
                </a:solidFill>
              </a:rPr>
              <a:t> WGS 84, geographic (GPS)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1B3A57"/>
                </a:solidFill>
                <a:hlinkClick r:id="rId4"/>
              </a:rPr>
              <a:t>EPSG:25832</a:t>
            </a:r>
            <a:r>
              <a:rPr sz="2200" b="0" i="0">
                <a:solidFill>
                  <a:srgbClr val="2C3E50"/>
                </a:solidFill>
              </a:rPr>
              <a:t> ETRS89 / UTM zone 32N</a:t>
            </a:r>
          </a:p>
          <a:p>
            <a:pPr algn="l" marL="530352" indent="-228600">
              <a:spcAft>
                <a:spcPts val="600"/>
              </a:spcAft>
              <a:buChar char="–"/>
            </a:pPr>
            <a:r>
              <a:rPr sz="2200" b="0" i="0">
                <a:solidFill>
                  <a:srgbClr val="2C3E50"/>
                </a:solidFill>
              </a:rPr>
              <a:t>Kamp-Lintfort: 328 794, 5 708 314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1B3A57"/>
                </a:solidFill>
                <a:hlinkClick r:id="rId5"/>
              </a:rPr>
              <a:t>EPSG:4647</a:t>
            </a:r>
            <a:r>
              <a:rPr sz="2200" b="0" i="0">
                <a:solidFill>
                  <a:srgbClr val="2C3E50"/>
                </a:solidFill>
              </a:rPr>
              <a:t> ETRS89 / UTM zone 32N (zE-N)</a:t>
            </a:r>
          </a:p>
          <a:p>
            <a:pPr algn="l" marL="530352" indent="-228600">
              <a:spcAft>
                <a:spcPts val="600"/>
              </a:spcAft>
              <a:buChar char="–"/>
            </a:pPr>
            <a:r>
              <a:rPr sz="2200" b="0" i="0">
                <a:solidFill>
                  <a:srgbClr val="2C3E50"/>
                </a:solidFill>
              </a:rPr>
              <a:t>Kamp-Lintfort: 32 328 794, 5 708 314 (zone prefix 32)</a:t>
            </a:r>
          </a:p>
          <a:p>
            <a:pPr algn="l" marL="256032" indent="-228600">
              <a:spcAft>
                <a:spcPts val="600"/>
              </a:spcAft>
              <a:buChar char="•"/>
            </a:pPr>
            <a:r>
              <a:rPr sz="2200" b="1" i="0">
                <a:solidFill>
                  <a:srgbClr val="1B3A57"/>
                </a:solidFill>
                <a:hlinkClick r:id="rId6"/>
              </a:rPr>
              <a:t>EPSG:3857</a:t>
            </a:r>
            <a:r>
              <a:rPr sz="2200" b="0" i="0">
                <a:solidFill>
                  <a:srgbClr val="2C3E50"/>
                </a:solidFill>
              </a:rPr>
              <a:t> WGS 84 / Pseudo-Mercator: OpenStreetMap, Google, Bing</a:t>
            </a:r>
          </a:p>
        </p:txBody>
      </p:sp>
      <p:sp>
        <p:nvSpPr>
          <p:cNvPr id="6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7"/>
              </a:rPr>
              <a:t>EPSG Geodetic Parameter Dataset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Kamp-Lintfort in eight CRSs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188720"/>
                <a:gridCol w="2194560"/>
                <a:gridCol w="219456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CRS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EPSG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east 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north 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WGS 84, geographic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4326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+6.533333°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51.500000°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degree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ETRS89, geographic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4258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+6.533333°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51.500000°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degree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DHDN, geographic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4314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+6.534036°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51.501317°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degree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DHDN / Gauss-Krüger zone 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31466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2 537 078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5 707 408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DHDN / Gauss-Krüger zone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31467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3 328 800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5 710 156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ETRS89 / UTM zone 32N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25832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328 794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5 708 314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ETRS89 / UTM 32N (zE-N)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4647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32 328 794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5 708 314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WGS 84 / Pseudo-Mercator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3857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727 287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6 710 219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m (web)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code"/>
          <p:cNvSpPr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for epsg in (4314, 31466, 31467, 25832, 4647):  # target CRSs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t = Transformer.from_crs(4258, epsg, always_xy=True)  # from ETRS89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print(epsg, t.transform(6.5333, 51.5))  # (east, north)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Spatial reference system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Recognise a CRS from its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880360"/>
                <a:gridCol w="288036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pattern of the east value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east range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north range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probably</a:t>
                      </a:r>
                    </a:p>
                  </a:txBody>
                  <a:tcPr marL="73152" marR="73152" marT="27432" marB="27432" anchor="ctr">
                    <a:solidFill>
                      <a:srgbClr val="1B3A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≈ 6 … 9.5, with decimals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5.9 … 9.5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50.3 … 52.5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degrees: 4258/4326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7 digits, starts with 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2 490 000 … 2 739 000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5 576 000 … 5 825 000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GK zone 2: 31466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7 digits, starts with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3 279 000 … 3 532 000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5 580 000 … 5 821 000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GK zone 3: 31467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 digits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279 000 … 532 000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5 578 000 … 5 819 000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UTM 32N: 25832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8 digits, starts with 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32 279 000 … 32 532 000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5 578 000 … 5 819 000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UTM 32N: 4647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C3E50"/>
                          </a:solidFill>
                        </a:rPr>
                        <a:t>6–7 digits, north ≈ 6.6 M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651 000 … 1 053 000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6 502 000 … 6 895 000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C3E50"/>
                          </a:solidFill>
                        </a:rPr>
                        <a:t>Web Mercator: 3857</a:t>
                      </a:r>
                    </a:p>
                  </a:txBody>
                  <a:tcPr marL="73152" marR="73152" marT="27432" marB="27432"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3A57"/>
                </a:solidFill>
              </a:rPr>
              <a:t>Count the digits, read the first ones. </a:t>
            </a:r>
            <a:r>
              <a:rPr sz="2200" b="0" i="0">
                <a:solidFill>
                  <a:srgbClr val="2C3E50"/>
                </a:solidFill>
              </a:rPr>
              <a:t>In degrees, check which value is the latitude.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EPSG Geodetic Parameter Dataset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DHDN → ETRS89 is a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dhdn_etrs89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91376"/>
            <a:ext cx="5852160" cy="3057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234440"/>
            <a:ext cx="50292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New datum: new ellipsoid and new position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Same numbers ≈ 154 m apart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The method decides the accuracy</a:t>
            </a:r>
          </a:p>
        </p:txBody>
      </p:sp>
      <p:sp>
        <p:nvSpPr>
          <p:cNvPr id="7" name="code"/>
          <p:cNvSpPr/>
          <p:nvPr/>
        </p:nvSpPr>
        <p:spPr>
          <a:xfrm>
            <a:off x="548640" y="4389120"/>
            <a:ext cx="11064240" cy="118872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tg = TransformerGroup(4314, 4258, always_xy=True)  # DHDN -&gt; ETRS89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[(t.description, t.accuracy) for t in tg.transformers]  # best first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Kamp-Lintfort: BeTA2007 grid vs Helmert = 1.8 m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Helmert transformation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Geodetic datum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l-M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Heights in Germany: DHHN2016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gcg2016_nr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41" y="1143000"/>
            <a:ext cx="4617077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34440"/>
            <a:ext cx="521208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1F6391"/>
                </a:solidFill>
              </a:rPr>
              <a:t>h </a:t>
            </a:r>
            <a:r>
              <a:rPr sz="2200" b="0" i="0">
                <a:solidFill>
                  <a:srgbClr val="2C3E50"/>
                </a:solidFill>
              </a:rPr>
              <a:t>GNSS, ellipsoidal (ETRS89)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8E44AD"/>
                </a:solidFill>
              </a:rPr>
              <a:t>H </a:t>
            </a:r>
            <a:r>
              <a:rPr sz="2200" b="0" i="0">
                <a:solidFill>
                  <a:srgbClr val="2C3E50"/>
                </a:solidFill>
              </a:rPr>
              <a:t>maps, DEM NRW: DHHN2016 (NHN)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1" i="0">
                <a:solidFill>
                  <a:srgbClr val="2C3E50"/>
                </a:solidFill>
              </a:rPr>
              <a:t>H = h − ζ</a:t>
            </a:r>
            <a:r>
              <a:rPr sz="2200" b="0" i="0">
                <a:solidFill>
                  <a:srgbClr val="2C3E50"/>
                </a:solidFill>
              </a:rPr>
              <a:t>, ζ from GCG2016 (&lt; 1 cm)</a:t>
            </a:r>
          </a:p>
          <a:p>
            <a:pPr algn="l" marL="256032" indent="-228600">
              <a:spcAft>
                <a:spcPts val="8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NRW: ζ ≈ 44 … 48 m</a:t>
            </a:r>
          </a:p>
        </p:txBody>
      </p:sp>
      <p:sp>
        <p:nvSpPr>
          <p:cNvPr id="7" name="code"/>
          <p:cNvSpPr/>
          <p:nvPr/>
        </p:nvSpPr>
        <p:spPr>
          <a:xfrm>
            <a:off x="6400800" y="4069080"/>
            <a:ext cx="5212080" cy="1600200"/>
          </a:xfrm>
          <a:prstGeom prst="rect">
            <a:avLst/>
          </a:prstGeom>
          <a:solidFill>
            <a:srgbClr val="EC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t = Transformer.from_crs(4937, 9924,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    always_xy=True)  # uses GCG2016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Courier New"/>
              </a:rPr>
              <a:t>t.transform(6.5333, 51.5, 100.0)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5D6D7E"/>
                </a:solidFill>
                <a:latin typeface="Courier New"/>
              </a:rPr>
              <a:t># h = 100 m -&gt; H = 55.13 m</a:t>
            </a:r>
          </a:p>
        </p:txBody>
      </p:sp>
      <p:sp>
        <p:nvSpPr>
          <p:cNvPr id="8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Normal height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Geoid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ITRF: the global reference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212080" cy="868680"/>
          </a:xfrm>
          <a:prstGeom prst="roundRect">
            <a:avLst/>
          </a:prstGeom>
          <a:solidFill>
            <a:srgbClr val="EAF2FB"/>
          </a:solidFill>
          <a:ln w="15875">
            <a:solidFill>
              <a:srgbClr val="1F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1B3A57"/>
                </a:solidFill>
              </a:rPr>
              <a:t>ITRS: the system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definition: centre of mass, axes, metre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167128"/>
            <a:ext cx="0" cy="210312"/>
          </a:xfrm>
          <a:prstGeom prst="line">
            <a:avLst/>
          </a:prstGeom>
          <a:ln w="254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395728"/>
            <a:ext cx="5212080" cy="868680"/>
          </a:xfrm>
          <a:prstGeom prst="roundRect">
            <a:avLst/>
          </a:prstGeom>
          <a:solidFill>
            <a:srgbClr val="EAF2FB"/>
          </a:solidFill>
          <a:ln w="15875">
            <a:solidFill>
              <a:srgbClr val="1F6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1B3A57"/>
                </a:solidFill>
              </a:rPr>
              <a:t>ITRF2014, ITRF2020: the frame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≈ 1 500 stations: coordinates + velocities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3282696"/>
            <a:ext cx="0" cy="237744"/>
          </a:xfrm>
          <a:prstGeom prst="line">
            <a:avLst/>
          </a:prstGeom>
          <a:ln w="254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59" y="3282696"/>
            <a:ext cx="0" cy="237744"/>
          </a:xfrm>
          <a:prstGeom prst="line">
            <a:avLst/>
          </a:prstGeom>
          <a:ln w="25400">
            <a:solidFill>
              <a:srgbClr val="5D6D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538728"/>
            <a:ext cx="2514600" cy="1463040"/>
          </a:xfrm>
          <a:prstGeom prst="roundRect">
            <a:avLst/>
          </a:prstGeom>
          <a:solidFill>
            <a:srgbClr val="F4F6F7"/>
          </a:solidFill>
          <a:ln w="15875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1B3A57"/>
                </a:solidFill>
              </a:rPr>
              <a:t>WGS 84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GPS, ≈ ITRF (1 cm)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EPSG:4326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538728"/>
            <a:ext cx="2514600" cy="1463040"/>
          </a:xfrm>
          <a:prstGeom prst="roundRect">
            <a:avLst/>
          </a:prstGeom>
          <a:solidFill>
            <a:srgbClr val="F4ECF7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2000" b="1" i="0">
                <a:solidFill>
                  <a:srgbClr val="1B3A57"/>
                </a:solidFill>
              </a:rPr>
              <a:t>ETRS89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= ITRF in 1989,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then fixed to Eurasia</a:t>
            </a:r>
          </a:p>
          <a:p>
            <a:pPr algn="ctr"/>
            <a:r>
              <a:rPr sz="2000" b="0" i="1">
                <a:solidFill>
                  <a:srgbClr val="2C3E50"/>
                </a:solidFill>
              </a:rPr>
              <a:t>EPSG:4258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280160"/>
            <a:ext cx="544068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The plates move: in ITRF, Germany</a:t>
            </a:r>
            <a:br/>
            <a:r>
              <a:rPr sz="2200" b="0" i="0">
                <a:solidFill>
                  <a:srgbClr val="2C3E50"/>
                </a:solidFill>
              </a:rPr>
              <a:t>moves ≈ 2.5 cm per year north-east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ITRF / WGS 84: grid fixed to the</a:t>
            </a:r>
            <a:br/>
            <a:r>
              <a:rPr sz="2200" b="0" i="0">
                <a:solidFill>
                  <a:srgbClr val="2C3E50"/>
                </a:solidFill>
              </a:rPr>
              <a:t>whole Earth, coordinates change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ETRS89: grid glued onto Europe,</a:t>
            </a:r>
            <a:br/>
            <a:r>
              <a:rPr sz="2200" b="0" i="0">
                <a:solidFill>
                  <a:srgbClr val="2C3E50"/>
                </a:solidFill>
              </a:rPr>
              <a:t>coordinates stay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Kamp-Lintfort 2026: 0.92 m apart</a:t>
            </a:r>
          </a:p>
        </p:txBody>
      </p:sp>
      <p:sp>
        <p:nvSpPr>
          <p:cNvPr id="13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3"/>
              </a:rPr>
              <a:t>International Terrestrial Reference System and Frame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ETRS89 is not WGS 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pic>
        <p:nvPicPr>
          <p:cNvPr id="5" name="Picture 4" descr="etrs89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293"/>
            <a:ext cx="5669280" cy="3384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234440"/>
            <a:ext cx="521208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ETRS89 is fixed to the Eurasian plate (1989)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WGS 84 is global: Europe moves ≈ 2.4 cm per year north-east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Kamp-Lintfort 2026: 0.92 m apart</a:t>
            </a:r>
          </a:p>
          <a:p>
            <a:pPr algn="l" marL="256032" indent="-228600">
              <a:spcAft>
                <a:spcPts val="1000"/>
              </a:spcAft>
              <a:buChar char="•"/>
            </a:pPr>
            <a:r>
              <a:rPr sz="2200" b="0" i="0">
                <a:solidFill>
                  <a:srgbClr val="2C3E50"/>
                </a:solidFill>
              </a:rPr>
              <a:t>GIS at 1 m: treat as equal</a:t>
            </a:r>
            <a:br/>
            <a:r>
              <a:rPr sz="2200" b="0" i="0">
                <a:solidFill>
                  <a:srgbClr val="2C3E50"/>
                </a:solidFill>
              </a:rPr>
              <a:t>GNSS / RTK: use ETRS89 (SAPOS)</a:t>
            </a:r>
          </a:p>
        </p:txBody>
      </p:sp>
      <p:sp>
        <p:nvSpPr>
          <p:cNvPr id="7" name="further_reading"/>
          <p:cNvSpPr txBox="1"/>
          <p:nvPr/>
        </p:nvSpPr>
        <p:spPr>
          <a:xfrm>
            <a:off x="548640" y="5788152"/>
            <a:ext cx="10607040" cy="256032"/>
          </a:xfrm>
          <a:prstGeom prst="rect">
            <a:avLst/>
          </a:prstGeom>
          <a:noFill/>
        </p:spPr>
        <p:txBody>
          <a:bodyPr wrap="square" lIns="0" tIns="0" bIns="0">
            <a:noAutofit/>
          </a:bodyPr>
          <a:lstStyle/>
          <a:p>
            <a:pPr algn="l"/>
            <a:r>
              <a:rPr sz="1200" b="1">
                <a:solidFill>
                  <a:srgbClr val="5D6D7E"/>
                </a:solidFill>
              </a:rPr>
              <a:t>Wikipedia: </a:t>
            </a:r>
            <a:r>
              <a:rPr sz="1200" u="sng">
                <a:solidFill>
                  <a:srgbClr val="1F6391"/>
                </a:solidFill>
                <a:hlinkClick r:id="rId4"/>
              </a:rPr>
              <a:t>ETRS89</a:t>
            </a:r>
            <a:r>
              <a:rPr sz="1200">
                <a:solidFill>
                  <a:srgbClr val="5D6D7E"/>
                </a:solidFill>
              </a:rPr>
              <a:t>  ·  </a:t>
            </a:r>
            <a:r>
              <a:rPr sz="1200" u="sng">
                <a:solidFill>
                  <a:srgbClr val="1F6391"/>
                </a:solidFill>
                <a:hlinkClick r:id="rId5"/>
              </a:rPr>
              <a:t>Plate tectonics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Sources and further reading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sources"/>
          <p:cNvSpPr txBox="1"/>
          <p:nvPr/>
        </p:nvSpPr>
        <p:spPr>
          <a:xfrm>
            <a:off x="548640" y="118872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From the Earth to a map: </a:t>
            </a:r>
            <a:r>
              <a:rPr sz="1400" u="sng">
                <a:solidFill>
                  <a:srgbClr val="1F6391"/>
                </a:solidFill>
                <a:hlinkClick r:id="rId3"/>
              </a:rPr>
              <a:t>Spatial reference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4"/>
              </a:rPr>
              <a:t>Map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WGS 84: the ellipsoid with a, b and f: </a:t>
            </a:r>
            <a:r>
              <a:rPr sz="1400" u="sng">
                <a:solidFill>
                  <a:srgbClr val="1F6391"/>
                </a:solidFill>
                <a:hlinkClick r:id="rId5"/>
              </a:rPr>
              <a:t>World Geodetic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6"/>
              </a:rPr>
              <a:t>Flattening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Reference ellipsoids: </a:t>
            </a:r>
            <a:r>
              <a:rPr sz="1400" u="sng">
                <a:solidFill>
                  <a:srgbClr val="1F6391"/>
                </a:solidFill>
                <a:hlinkClick r:id="rId7"/>
              </a:rPr>
              <a:t>Earth ellipsoid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8"/>
              </a:rPr>
              <a:t>GRS 80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5"/>
              </a:rPr>
              <a:t>World Geodetic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6"/>
              </a:rPr>
              <a:t>Flattening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The geoid: where is 'zero height'? </a:t>
            </a:r>
            <a:r>
              <a:rPr sz="1400" u="sng">
                <a:solidFill>
                  <a:srgbClr val="1F6391"/>
                </a:solidFill>
                <a:hlinkClick r:id="rId9"/>
              </a:rPr>
              <a:t>Geoid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0"/>
              </a:rPr>
              <a:t>Earth Gravitational Model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1"/>
              </a:rPr>
              <a:t>Orthometric height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Datum: where does the ellipsoid sit? </a:t>
            </a:r>
            <a:r>
              <a:rPr sz="1400" u="sng">
                <a:solidFill>
                  <a:srgbClr val="1F6391"/>
                </a:solidFill>
                <a:hlinkClick r:id="rId12"/>
              </a:rPr>
              <a:t>Geodetic datum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3"/>
              </a:rPr>
              <a:t>Figure of the Earth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Geographic coordinates: latitude φ and longitude λ: </a:t>
            </a:r>
            <a:r>
              <a:rPr sz="1400" u="sng">
                <a:solidFill>
                  <a:srgbClr val="1F6391"/>
                </a:solidFill>
                <a:hlinkClick r:id="rId14"/>
              </a:rPr>
              <a:t>Geographic coordinate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5"/>
              </a:rPr>
              <a:t>Latitude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6"/>
              </a:rPr>
              <a:t>Longitude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7"/>
              </a:rPr>
              <a:t>Prime meridian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Writing degrees: </a:t>
            </a:r>
            <a:r>
              <a:rPr sz="1400" u="sng">
                <a:solidFill>
                  <a:srgbClr val="1F6391"/>
                </a:solidFill>
                <a:hlinkClick r:id="rId18"/>
              </a:rPr>
              <a:t>Decimal degrees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9"/>
              </a:rPr>
              <a:t>NMEA 0183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How long is a degree? </a:t>
            </a:r>
            <a:r>
              <a:rPr sz="1400" u="sng">
                <a:solidFill>
                  <a:srgbClr val="1F6391"/>
                </a:solidFill>
                <a:hlinkClick r:id="rId20"/>
              </a:rPr>
              <a:t>Nautical mile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4"/>
              </a:rPr>
              <a:t>Geographic coordinate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Geocentric coordinates X, Y, Z: </a:t>
            </a:r>
            <a:r>
              <a:rPr sz="1400" u="sng">
                <a:solidFill>
                  <a:srgbClr val="1F6391"/>
                </a:solidFill>
                <a:hlinkClick r:id="rId21"/>
              </a:rPr>
              <a:t>Earth-centered, Earth-fixed coordinate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2"/>
              </a:rPr>
              <a:t>Helmert transformation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6172200" y="118872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Locally flat: the tangent plane: </a:t>
            </a:r>
            <a:r>
              <a:rPr sz="1400" u="sng">
                <a:solidFill>
                  <a:srgbClr val="1F6391"/>
                </a:solidFill>
                <a:hlinkClick r:id="rId23"/>
              </a:rPr>
              <a:t>Local tangent plane coordinates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From the ellipsoid to the plane: </a:t>
            </a:r>
            <a:r>
              <a:rPr sz="1400" u="sng">
                <a:solidFill>
                  <a:srgbClr val="1F6391"/>
                </a:solidFill>
                <a:hlinkClick r:id="rId4"/>
              </a:rPr>
              <a:t>Map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4"/>
              </a:rPr>
              <a:t>List of map projections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What can a projection preserve? </a:t>
            </a:r>
            <a:r>
              <a:rPr sz="1400" u="sng">
                <a:solidFill>
                  <a:srgbClr val="1F6391"/>
                </a:solidFill>
                <a:hlinkClick r:id="rId4"/>
              </a:rPr>
              <a:t>Map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5"/>
              </a:rPr>
              <a:t>Theorema Egregium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Six projections, six properties: </a:t>
            </a:r>
            <a:r>
              <a:rPr sz="1400" u="sng">
                <a:solidFill>
                  <a:srgbClr val="1F6391"/>
                </a:solidFill>
                <a:hlinkClick r:id="rId24"/>
              </a:rPr>
              <a:t>List of map projections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6"/>
              </a:rPr>
              <a:t>Gnomonic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7"/>
              </a:rPr>
              <a:t>Lambert azimuthal equal-area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Tissot's indicatrix: one circle, many places: </a:t>
            </a:r>
            <a:r>
              <a:rPr sz="1400" u="sng">
                <a:solidFill>
                  <a:srgbClr val="1F6391"/>
                </a:solidFill>
                <a:hlinkClick r:id="rId28"/>
              </a:rPr>
              <a:t>Tissot's indicatrix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29"/>
              </a:rPr>
              <a:t>Mercator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30"/>
              </a:rPr>
              <a:t>Gall–Peters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Tissot's indicatrix: more projections: </a:t>
            </a:r>
            <a:r>
              <a:rPr sz="1400" u="sng">
                <a:solidFill>
                  <a:srgbClr val="1F6391"/>
                </a:solidFill>
                <a:hlinkClick r:id="rId28"/>
              </a:rPr>
              <a:t>Tissot's indicatrix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31"/>
              </a:rPr>
              <a:t>Equal Earth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32"/>
              </a:rPr>
              <a:t>Robinson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Mercator: the cylinder touches the equator: </a:t>
            </a:r>
            <a:r>
              <a:rPr sz="1400" u="sng">
                <a:solidFill>
                  <a:srgbClr val="1F6391"/>
                </a:solidFill>
                <a:hlinkClick r:id="rId29"/>
              </a:rPr>
              <a:t>Mercator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How the Mercator map is built: </a:t>
            </a:r>
            <a:r>
              <a:rPr sz="1400" u="sng">
                <a:solidFill>
                  <a:srgbClr val="1F6391"/>
                </a:solidFill>
                <a:hlinkClick r:id="rId29"/>
              </a:rPr>
              <a:t>Mercator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33"/>
              </a:rPr>
              <a:t>Central cylindrical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Mercator: true angles, wrong areas: </a:t>
            </a:r>
            <a:r>
              <a:rPr sz="1400" u="sng">
                <a:solidFill>
                  <a:srgbClr val="1F6391"/>
                </a:solidFill>
                <a:hlinkClick r:id="rId29"/>
              </a:rPr>
              <a:t>Mercator projection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34"/>
              </a:rPr>
              <a:t>Web Mercator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Data: Natural Earth, EGM96 (public domain); BeTA2007, GCG2016 (open licence) via PROJ-data. Figures: own work (make_slides.py), CC BY-SA 4.0.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822960"/>
          </a:xfrm>
        </p:spPr>
        <p:txBody>
          <a:bodyPr anchor="ctr"/>
          <a:lstStyle/>
          <a:p>
            <a:r>
              <a:rPr sz="3200" b="1">
                <a:solidFill>
                  <a:srgbClr val="1B3A57"/>
                </a:solidFill>
              </a:rPr>
              <a:t>Sources and further reading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27648"/>
            <a:ext cx="8229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D6D7E"/>
                </a:solidFill>
              </a:rPr>
              <a:t>geo0220 · Coordinate reference systems · opengeo · CC BY-SA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6327648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rgbClr val="5D6D7E"/>
                </a:solidFill>
              </a:rPr>
              <a:t>‹#›</a:t>
            </a:fld>
          </a:p>
        </p:txBody>
      </p:sp>
      <p:sp>
        <p:nvSpPr>
          <p:cNvPr id="5" name="sources"/>
          <p:cNvSpPr txBox="1"/>
          <p:nvPr/>
        </p:nvSpPr>
        <p:spPr>
          <a:xfrm>
            <a:off x="548640" y="118872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Rhumb line or great circle? </a:t>
            </a:r>
            <a:r>
              <a:rPr sz="1400" u="sng">
                <a:solidFill>
                  <a:srgbClr val="1F6391"/>
                </a:solidFill>
                <a:hlinkClick r:id="rId3"/>
              </a:rPr>
              <a:t>Rhumb line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4"/>
              </a:rPr>
              <a:t>Great circle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5"/>
              </a:rPr>
              <a:t>Great-circle navigation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Transverse Mercator: the cylinder turned sideways: </a:t>
            </a:r>
            <a:r>
              <a:rPr sz="1400" u="sng">
                <a:solidFill>
                  <a:srgbClr val="1F6391"/>
                </a:solidFill>
                <a:hlinkClick r:id="rId6"/>
              </a:rPr>
              <a:t>Transverse Mercator projection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UTM: the secant cylinder: </a:t>
            </a:r>
            <a:r>
              <a:rPr sz="1400" u="sng">
                <a:solidFill>
                  <a:srgbClr val="1F6391"/>
                </a:solidFill>
                <a:hlinkClick r:id="rId7"/>
              </a:rPr>
              <a:t>Universal Transverse Mercator coordinate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UTM: 60 zones around the world: </a:t>
            </a:r>
            <a:r>
              <a:rPr sz="1400" u="sng">
                <a:solidFill>
                  <a:srgbClr val="1F6391"/>
                </a:solidFill>
                <a:hlinkClick r:id="rId8"/>
              </a:rPr>
              <a:t>Universal Polar Stereographic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9"/>
              </a:rPr>
              <a:t>Military Grid Reference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UTM in Europe: zone 32: </a:t>
            </a:r>
            <a:r>
              <a:rPr sz="1400" u="sng">
                <a:solidFill>
                  <a:srgbClr val="1F6391"/>
                </a:solidFill>
                <a:hlinkClick r:id="rId7"/>
              </a:rPr>
              <a:t>Universal Transverse Mercator coordinate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How exact is UTM in NRW? </a:t>
            </a:r>
            <a:r>
              <a:rPr sz="1400" u="sng">
                <a:solidFill>
                  <a:srgbClr val="1F6391"/>
                </a:solidFill>
                <a:hlinkClick r:id="rId7"/>
              </a:rPr>
              <a:t>Universal Transverse Mercator coordinate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Which projection for what? </a:t>
            </a:r>
            <a:r>
              <a:rPr sz="1400" u="sng">
                <a:solidFill>
                  <a:srgbClr val="1F6391"/>
                </a:solidFill>
                <a:hlinkClick r:id="rId10"/>
              </a:rPr>
              <a:t>EPSG Geodetic Parameter Dataset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1"/>
              </a:rPr>
              <a:t>European Terrestrial Reference System 1989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Old and new: DHDN / Gauss-Krüger → ETRS89 / UTM: </a:t>
            </a:r>
            <a:r>
              <a:rPr sz="1400" u="sng">
                <a:solidFill>
                  <a:srgbClr val="1F6391"/>
                </a:solidFill>
                <a:hlinkClick r:id="rId12"/>
              </a:rPr>
              <a:t>Gauss–Krüger coordinate system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1"/>
              </a:rPr>
              <a:t>ETRS89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6172200" y="1188720"/>
            <a:ext cx="5440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EPSG: a unique ID for every CRS: </a:t>
            </a:r>
            <a:r>
              <a:rPr sz="1400" u="sng">
                <a:solidFill>
                  <a:srgbClr val="1F6391"/>
                </a:solidFill>
                <a:hlinkClick r:id="rId10"/>
              </a:rPr>
              <a:t>EPSG Geodetic Parameter Dataset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Kamp-Lintfort in eight CRSs: </a:t>
            </a:r>
            <a:r>
              <a:rPr sz="1400" u="sng">
                <a:solidFill>
                  <a:srgbClr val="1F6391"/>
                </a:solidFill>
                <a:hlinkClick r:id="rId13"/>
              </a:rPr>
              <a:t>Spatial reference system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Recognise a CRS from its numbers: </a:t>
            </a:r>
            <a:r>
              <a:rPr sz="1400" u="sng">
                <a:solidFill>
                  <a:srgbClr val="1F6391"/>
                </a:solidFill>
                <a:hlinkClick r:id="rId10"/>
              </a:rPr>
              <a:t>EPSG Geodetic Parameter Dataset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DHDN → ETRS89 is a transformation: </a:t>
            </a:r>
            <a:r>
              <a:rPr sz="1400" u="sng">
                <a:solidFill>
                  <a:srgbClr val="1F6391"/>
                </a:solidFill>
                <a:hlinkClick r:id="rId14"/>
              </a:rPr>
              <a:t>Helmert transformation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5"/>
              </a:rPr>
              <a:t>Geodetic datum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Heights in Germany: DHHN2016: </a:t>
            </a:r>
            <a:r>
              <a:rPr sz="1400" u="sng">
                <a:solidFill>
                  <a:srgbClr val="1F6391"/>
                </a:solidFill>
                <a:hlinkClick r:id="rId16"/>
              </a:rPr>
              <a:t>Normal height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7"/>
              </a:rPr>
              <a:t>Geoid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ITRF: the global reference frame: </a:t>
            </a:r>
            <a:r>
              <a:rPr sz="1400" u="sng">
                <a:solidFill>
                  <a:srgbClr val="1F6391"/>
                </a:solidFill>
                <a:hlinkClick r:id="rId18"/>
              </a:rPr>
              <a:t>International Terrestrial Reference System and Frame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C3E50"/>
                </a:solidFill>
              </a:rPr>
              <a:t>ETRS89 is not WGS 84: </a:t>
            </a:r>
            <a:r>
              <a:rPr sz="1400" u="sng">
                <a:solidFill>
                  <a:srgbClr val="1F6391"/>
                </a:solidFill>
                <a:hlinkClick r:id="rId11"/>
              </a:rPr>
              <a:t>ETRS89</a:t>
            </a:r>
            <a:r>
              <a:rPr sz="1400">
                <a:solidFill>
                  <a:srgbClr val="5D6D7E"/>
                </a:solidFill>
              </a:rPr>
              <a:t> · </a:t>
            </a:r>
            <a:r>
              <a:rPr sz="1400" u="sng">
                <a:solidFill>
                  <a:srgbClr val="1F6391"/>
                </a:solidFill>
                <a:hlinkClick r:id="rId19"/>
              </a:rPr>
              <a:t>Plate tectonics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D6D7E"/>
                </a:solidFill>
              </a:rPr>
              <a:t>Data: Natural Earth, EGM96 (public domain); BeTA2007, GCG2016 (open licence) via PROJ-data. Figures: own work (make_slides.py), CC BY-SA 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Becker, Rolf</dc:creator>
  <cp:lastModifiedBy>Becker, Rolf</cp:lastModifiedBy>
  <cp:revision>1</cp:revision>
  <dcterms:created xsi:type="dcterms:W3CDTF">2026-10-06T06:25:10Z</dcterms:created>
  <dcterms:modified xsi:type="dcterms:W3CDTF">2026-10-06T06:26:14Z</dcterms:modified>
</cp:coreProperties>
</file>