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2"/>
    <p:sldId id="272" r:id="rId23"/>
    <p:sldId id="273" r:id="rId24"/>
    <p:sldId id="274" r:id="rId25"/>
    <p:sldId id="276" r:id="rId27"/>
    <p:sldId id="278" r:id="rId29"/>
    <p:sldId id="279" r:id="rId30"/>
    <p:sldId id="281" r:id="rId32"/>
    <p:sldId id="283" r:id="rId34"/>
    <p:sldId id="285" r:id="rId36"/>
    <p:sldId id="286" r:id="rId37"/>
    <p:sldId id="28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41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2" Type="http://schemas.openxmlformats.org/officeDocument/2006/relationships/slide" Target="slides/slide26.xml"/><Relationship Id="rId34" Type="http://schemas.openxmlformats.org/officeDocument/2006/relationships/slide" Target="slides/slide28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50DF-6A56-4683-84A0-9F4766A15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80E23-9634-4C46-9D7C-81DC9C6C1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5A4D-09F2-4B0F-A149-A6672B58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4C268-BE16-408B-909B-DE68D8FA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4AAB-F8D0-40D9-8973-913795EF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78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3ECB0-CD89-43EC-B046-34143990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F5269-D411-416C-B8D8-79952D9E3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08A6E-524E-474C-86A0-72018922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B5EEB-EE6F-4F5E-AC81-D46685E0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FAAA0-40DE-4A3D-8F76-ABD65A6E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23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FEC7-5B63-404F-9905-ACEAD4C1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D25BC-0B97-41E6-BF43-CAAA08D59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FEB24-F7FA-4D31-BBE8-71023751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CBA50-B6AE-467B-9EFE-EEF613BF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B140D-688A-4CA1-889B-A15CF777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74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AB71-B5BA-4EC8-84F5-9BF55177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DD429-5479-414E-A832-71C1E3C18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1BBC6-6A25-4EC4-AB37-AF22133C3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D7EE0-403D-44BE-95A1-54E8A41C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EF1A8-15E7-490A-A0EC-8F0E2140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BD47C-FDD0-4534-81C0-F613CA1F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35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F9C9-6D07-43A5-858A-FEAD4A946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3A8BC-1975-4828-8C90-16313039A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E3805-00C1-43F7-9A1A-5ED7FA844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C01AB-5A49-46D8-8E47-8A9F9AA09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6D58D-E3B9-45F0-B0CD-004D08584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16A4C-387B-48EE-AC0A-FEDF9EA6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1112DD-8D37-4488-B45B-FE2042E3A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94F1C-BCCA-4784-BC44-1927691B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3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34BE-8B56-4410-9C14-E37C5142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5E3E23-6F69-4FFD-8DA5-2C6FCA84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B299F-DFE8-45FA-815A-D25F6511C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A881E-8F3E-4B4D-95C4-EA10BA7D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47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691ED-A613-4383-8AD8-AF11C0EC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F4C779-BA81-4CE1-AE8A-C3FEC7C3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F2FE0-54CF-4DAD-841A-E7084DE2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11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0505-B01A-4DEC-9A3A-0CFCD415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B7BB-E438-4323-A07A-78533491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17714-BB80-4B98-94C2-51F73DB16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890E4-6F2D-49D0-9CA7-313873F67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BCE27-4993-4BAE-98D8-5E2C4225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D03D5-21C6-4561-BC66-3A935376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15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07EB-E67D-41A4-9958-78AF4812D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FD6CF-1CBF-4E4D-B2D6-B05E336CE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F7BFD-FC2D-4341-883A-BDAE5A773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37643-2A00-4731-97A3-DB59A0B9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BB96D-0449-44C8-AF04-CD7C4B46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138AB-290C-4C0C-BC06-D2F0AFB0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97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4C04-DCE5-4589-83E7-0B65423F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EE96D-AD70-44C8-B472-851020ACC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226AF-845B-4276-8454-41A75ECB7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8CE4-57A9-4558-87C7-EF4E0914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09842-5CF2-41C2-9D4D-37CE8E1C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18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2508C-FD32-4F96-BDBA-A56DE3AD9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F6B02-7CEB-400B-8389-2C3628932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A96B0-120A-4A74-99A8-355E3A51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3140A-D65D-43BF-9CC3-4B97B021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396D8-7534-46EC-B681-2C76F733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4347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29556E-D839-4917-831A-DF6666A8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D2EE8-A7AC-4562-A32A-8A5DC1DA8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EC52C-7C86-4474-B8C0-C6E9BC1B4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88686-68EA-4797-BF34-26B83E37D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B4CCA-3D0D-4701-B1AF-DDC1D659D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  <p:pic>
        <p:nvPicPr>
          <p:cNvPr id="1026" name="Picture 2" descr="https://avatars.githubusercontent.com/u/108284238?s=60&amp;v=4">
            <a:extLst>
              <a:ext uri="{FF2B5EF4-FFF2-40B4-BE49-F238E27FC236}">
                <a16:creationId xmlns:a16="http://schemas.microsoft.com/office/drawing/2014/main" id="{6CCBEEFC-210D-4C08-AFAF-C6AC361916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9020" y="6152111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08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en.wikipedia.org/wiki/Vetera" TargetMode="External"/><Relationship Id="rId5" Type="http://schemas.openxmlformats.org/officeDocument/2006/relationships/hyperlink" Target="https://en.wikipedia.org/wiki/Lower_Germanic_Limes" TargetMode="External"/><Relationship Id="rId6" Type="http://schemas.openxmlformats.org/officeDocument/2006/relationships/hyperlink" Target="https://en.wikipedia.org/wiki/Castra" TargetMode="External"/><Relationship Id="rId7" Type="http://schemas.openxmlformats.org/officeDocument/2006/relationships/hyperlink" Target="https://de.wikipedia.org/wiki/Veter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en.wikipedia.org/wiki/Vetera" TargetMode="External"/><Relationship Id="rId5" Type="http://schemas.openxmlformats.org/officeDocument/2006/relationships/hyperlink" Target="https://en.wikipedia.org/wiki/Castra" TargetMode="External"/><Relationship Id="rId6" Type="http://schemas.openxmlformats.org/officeDocument/2006/relationships/hyperlink" Target="https://de.wikipedia.org/wiki/Vetera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n.wikipedia.org/wiki/Year_of_the_Four_Emperors" TargetMode="External"/><Relationship Id="rId4" Type="http://schemas.openxmlformats.org/officeDocument/2006/relationships/hyperlink" Target="https://en.wikipedia.org/wiki/Revolt_of_the_Batavi" TargetMode="External"/><Relationship Id="rId5" Type="http://schemas.openxmlformats.org/officeDocument/2006/relationships/hyperlink" Target="https://en.wikipedia.org/wiki/Gaius_Julius_Civili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n.wikipedia.org/wiki/Colonia_Ulpia_Traiana" TargetMode="External"/><Relationship Id="rId4" Type="http://schemas.openxmlformats.org/officeDocument/2006/relationships/hyperlink" Target="https://en.wikipedia.org/wiki/Xanten" TargetMode="External"/><Relationship Id="rId5" Type="http://schemas.openxmlformats.org/officeDocument/2006/relationships/hyperlink" Target="https://en.wikipedia.org/wiki/Archaeological_Park_Xante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en.wikipedia.org/wiki/Vetera" TargetMode="External"/><Relationship Id="rId5" Type="http://schemas.openxmlformats.org/officeDocument/2006/relationships/hyperlink" Target="https://en.wikipedia.org/wiki/Colonia_Ulpia_Traiana" TargetMode="External"/><Relationship Id="rId6" Type="http://schemas.openxmlformats.org/officeDocument/2006/relationships/hyperlink" Target="https://en.wikipedia.org/wiki/Lower_Germanic_Lime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docs.qgis.org/latest/en/docs/user_manual/managing_data_source/georeferencer.html" TargetMode="External"/><Relationship Id="rId5" Type="http://schemas.openxmlformats.org/officeDocument/2006/relationships/hyperlink" Target="https://en.wikipedia.org/wiki/Georeferencing" TargetMode="External"/><Relationship Id="rId6" Type="http://schemas.openxmlformats.org/officeDocument/2006/relationships/hyperlink" Target="https://en.wikipedia.org/wiki/Ground_control_point" TargetMode="External"/><Relationship Id="rId7" Type="http://schemas.openxmlformats.org/officeDocument/2006/relationships/hyperlink" Target="https://en.wikipedia.org/wiki/Image_registration" TargetMode="External"/><Relationship Id="rId8" Type="http://schemas.openxmlformats.org/officeDocument/2006/relationships/hyperlink" Target="https://en.wikipedia.org/wiki/World_file" TargetMode="External"/><Relationship Id="rId9" Type="http://schemas.openxmlformats.org/officeDocument/2006/relationships/hyperlink" Target="https://en.wikipedia.org/wiki/GeoTIF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hyperlink" Target="https://en.wikipedia.org/wiki/Helmert_transformation" TargetMode="External"/><Relationship Id="rId5" Type="http://schemas.openxmlformats.org/officeDocument/2006/relationships/hyperlink" Target="https://en.wikipedia.org/wiki/Affine_transformation" TargetMode="External"/><Relationship Id="rId6" Type="http://schemas.openxmlformats.org/officeDocument/2006/relationships/hyperlink" Target="https://en.wikipedia.org/wiki/Homography" TargetMode="External"/><Relationship Id="rId7" Type="http://schemas.openxmlformats.org/officeDocument/2006/relationships/hyperlink" Target="https://en.wikipedia.org/wiki/Thin_plate_spline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hyperlink" Target="https://en.wikipedia.org/wiki/Errors_and_residuals" TargetMode="External"/><Relationship Id="rId5" Type="http://schemas.openxmlformats.org/officeDocument/2006/relationships/hyperlink" Target="https://en.wikipedia.org/wiki/Root-mean-square_deviation" TargetMode="External"/><Relationship Id="rId6" Type="http://schemas.openxmlformats.org/officeDocument/2006/relationships/hyperlink" Target="https://en.wikipedia.org/wiki/Least_square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hyperlink" Target="https://en.wikipedia.org/wiki/Overfitting" TargetMode="External"/><Relationship Id="rId5" Type="http://schemas.openxmlformats.org/officeDocument/2006/relationships/hyperlink" Target="https://en.wikipedia.org/wiki/Cross-validation_(statistics)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hyperlink" Target="https://en.wikipedia.org/wiki/Nearest-neighbor_interpolation" TargetMode="External"/><Relationship Id="rId5" Type="http://schemas.openxmlformats.org/officeDocument/2006/relationships/hyperlink" Target="https://en.wikipedia.org/wiki/Bilinear_interpolation" TargetMode="External"/><Relationship Id="rId6" Type="http://schemas.openxmlformats.org/officeDocument/2006/relationships/hyperlink" Target="https://en.wikipedia.org/wiki/Bicubic_interpolation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hyperlink" Target="https://en.wikipedia.org/wiki/Universal_Transverse_Mercator_coordinate_system" TargetMode="External"/><Relationship Id="rId5" Type="http://schemas.openxmlformats.org/officeDocument/2006/relationships/hyperlink" Target="https://de.wikipedia.org/wiki/Gau&#223;-Kr&#252;ger-Koordinatensyste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en.wikipedia.org/wiki/Universal_Transverse_Mercator_coordinate_system" TargetMode="External"/><Relationship Id="rId4" Type="http://schemas.openxmlformats.org/officeDocument/2006/relationships/hyperlink" Target="https://de.wikipedia.org/wiki/Gau%C3%9F-Kr%C3%BCger-Koordinatensystem" TargetMode="External"/><Relationship Id="rId5" Type="http://schemas.openxmlformats.org/officeDocument/2006/relationships/hyperlink" Target="https://de.wikipedia.org/wiki/Deutsches_Hauptdreiecksnetz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hyperlink" Target="https://en.wikipedia.org/wiki/Terrain_cartography#Shaded_relief" TargetMode="External"/><Relationship Id="rId5" Type="http://schemas.openxmlformats.org/officeDocument/2006/relationships/hyperlink" Target="https://en.wikipedia.org/wiki/Digital_elevation_mode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en.wikipedia.org/wiki/Vetera" TargetMode="External"/><Relationship Id="rId4" Type="http://schemas.openxmlformats.org/officeDocument/2006/relationships/hyperlink" Target="https://en.wikipedia.org/wiki/Lower_Germanic_Limes" TargetMode="External"/><Relationship Id="rId5" Type="http://schemas.openxmlformats.org/officeDocument/2006/relationships/hyperlink" Target="https://en.wikipedia.org/wiki/Castra" TargetMode="External"/><Relationship Id="rId6" Type="http://schemas.openxmlformats.org/officeDocument/2006/relationships/hyperlink" Target="https://de.wikipedia.org/wiki/Vetera" TargetMode="External"/><Relationship Id="rId7" Type="http://schemas.openxmlformats.org/officeDocument/2006/relationships/hyperlink" Target="https://en.wikipedia.org/wiki/Year_of_the_Four_Emperors" TargetMode="External"/><Relationship Id="rId8" Type="http://schemas.openxmlformats.org/officeDocument/2006/relationships/hyperlink" Target="https://en.wikipedia.org/wiki/Revolt_of_the_Batavi" TargetMode="External"/><Relationship Id="rId9" Type="http://schemas.openxmlformats.org/officeDocument/2006/relationships/hyperlink" Target="https://en.wikipedia.org/wiki/Gaius_Julius_Civilis" TargetMode="External"/><Relationship Id="rId10" Type="http://schemas.openxmlformats.org/officeDocument/2006/relationships/hyperlink" Target="https://en.wikipedia.org/wiki/Colonia_Ulpia_Traiana" TargetMode="External"/><Relationship Id="rId11" Type="http://schemas.openxmlformats.org/officeDocument/2006/relationships/hyperlink" Target="https://en.wikipedia.org/wiki/Xanten" TargetMode="External"/><Relationship Id="rId12" Type="http://schemas.openxmlformats.org/officeDocument/2006/relationships/hyperlink" Target="https://en.wikipedia.org/wiki/Archaeological_Park_Xanten" TargetMode="External"/><Relationship Id="rId13" Type="http://schemas.openxmlformats.org/officeDocument/2006/relationships/hyperlink" Target="https://en.wikipedia.org/wiki/Georeferencing" TargetMode="External"/><Relationship Id="rId14" Type="http://schemas.openxmlformats.org/officeDocument/2006/relationships/hyperlink" Target="https://en.wikipedia.org/wiki/Ground_control_point" TargetMode="External"/><Relationship Id="rId15" Type="http://schemas.openxmlformats.org/officeDocument/2006/relationships/hyperlink" Target="https://en.wikipedia.org/wiki/Image_registration" TargetMode="External"/><Relationship Id="rId16" Type="http://schemas.openxmlformats.org/officeDocument/2006/relationships/hyperlink" Target="https://en.wikipedia.org/wiki/World_file" TargetMode="External"/><Relationship Id="rId17" Type="http://schemas.openxmlformats.org/officeDocument/2006/relationships/hyperlink" Target="https://en.wikipedia.org/wiki/GeoTIFF" TargetMode="External"/><Relationship Id="rId18" Type="http://schemas.openxmlformats.org/officeDocument/2006/relationships/hyperlink" Target="https://en.wikipedia.org/wiki/Helmert_transformation" TargetMode="External"/><Relationship Id="rId19" Type="http://schemas.openxmlformats.org/officeDocument/2006/relationships/hyperlink" Target="https://en.wikipedia.org/wiki/Affine_transformation" TargetMode="External"/><Relationship Id="rId20" Type="http://schemas.openxmlformats.org/officeDocument/2006/relationships/hyperlink" Target="https://en.wikipedia.org/wiki/Homography" TargetMode="External"/><Relationship Id="rId21" Type="http://schemas.openxmlformats.org/officeDocument/2006/relationships/hyperlink" Target="https://en.wikipedia.org/wiki/Thin_plate_spline" TargetMode="External"/><Relationship Id="rId22" Type="http://schemas.openxmlformats.org/officeDocument/2006/relationships/hyperlink" Target="https://en.wikipedia.org/wiki/Errors_and_residuals" TargetMode="External"/><Relationship Id="rId23" Type="http://schemas.openxmlformats.org/officeDocument/2006/relationships/hyperlink" Target="https://en.wikipedia.org/wiki/Root-mean-square_deviation" TargetMode="External"/><Relationship Id="rId24" Type="http://schemas.openxmlformats.org/officeDocument/2006/relationships/hyperlink" Target="https://en.wikipedia.org/wiki/Least_squares" TargetMode="External"/><Relationship Id="rId25" Type="http://schemas.openxmlformats.org/officeDocument/2006/relationships/hyperlink" Target="https://en.wikipedia.org/wiki/Overfitting" TargetMode="External"/><Relationship Id="rId26" Type="http://schemas.openxmlformats.org/officeDocument/2006/relationships/hyperlink" Target="https://en.wikipedia.org/wiki/Cross-validation_(statistics)" TargetMode="External"/><Relationship Id="rId27" Type="http://schemas.openxmlformats.org/officeDocument/2006/relationships/hyperlink" Target="https://en.wikipedia.org/wiki/Nearest-neighbor_interpolation" TargetMode="External"/><Relationship Id="rId28" Type="http://schemas.openxmlformats.org/officeDocument/2006/relationships/hyperlink" Target="https://en.wikipedia.org/wiki/Bilinear_interpolation" TargetMode="External"/><Relationship Id="rId29" Type="http://schemas.openxmlformats.org/officeDocument/2006/relationships/hyperlink" Target="https://en.wikipedia.org/wiki/Bicubic_interpolation" TargetMode="External"/><Relationship Id="rId30" Type="http://schemas.openxmlformats.org/officeDocument/2006/relationships/hyperlink" Target="https://en.wikipedia.org/wiki/Universal_Transverse_Mercator_coordinate_system" TargetMode="External"/><Relationship Id="rId31" Type="http://schemas.openxmlformats.org/officeDocument/2006/relationships/hyperlink" Target="https://de.wikipedia.org/wiki/Gau&#223;-Kr&#252;ger-Koordinatensystem" TargetMode="External"/><Relationship Id="rId32" Type="http://schemas.openxmlformats.org/officeDocument/2006/relationships/hyperlink" Target="https://de.wikipedia.org/wiki/Gau%C3%9F-Kr%C3%BCger-Koordinatensystem" TargetMode="External"/><Relationship Id="rId33" Type="http://schemas.openxmlformats.org/officeDocument/2006/relationships/hyperlink" Target="https://de.wikipedia.org/wiki/Deutsches_Hauptdreiecksnetz" TargetMode="External"/><Relationship Id="rId34" Type="http://schemas.openxmlformats.org/officeDocument/2006/relationships/hyperlink" Target="https://en.wikipedia.org/wiki/Terrain_cartography#Shaded_relief" TargetMode="External"/><Relationship Id="rId35" Type="http://schemas.openxmlformats.org/officeDocument/2006/relationships/hyperlink" Target="https://en.wikipedia.org/wiki/Digital_elevation_mode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/>
              </a:rPr>
              <a:t>Georeferencing: Castra Vetera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5D6D7E"/>
                </a:solidFill>
              </a:rPr>
              <a:t>geo0240 · a photographed map and a reconstruction drawing</a:t>
            </a:r>
          </a:p>
          <a:p>
            <a:r>
              <a:rPr>
                <a:solidFill>
                  <a:srgbClr val="5D6D7E"/>
                </a:solidFill>
              </a:rPr>
              <a:t>in today's coordinates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Historical background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/>
              </a:rPr>
              <a:t>Vetera I · AD 69/70 · Colonia Ulpia Traiana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Castra Vetera I on the Fürstenberg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6766560" cy="4480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1">
                <a:solidFill>
                  <a:srgbClr val="2C3E50"/>
                </a:solidFill>
              </a:rPr>
              <a:t>castra</a:t>
            </a:r>
            <a:r>
              <a:rPr sz="2200" b="0" i="0">
                <a:solidFill>
                  <a:srgbClr val="2C3E50"/>
                </a:solidFill>
              </a:rPr>
              <a:t> (Latin, plural) = military camp; </a:t>
            </a:r>
            <a:r>
              <a:rPr sz="2200" b="0" i="1">
                <a:solidFill>
                  <a:srgbClr val="2C3E50"/>
                </a:solidFill>
              </a:rPr>
              <a:t>castra legionis</a:t>
            </a:r>
            <a:r>
              <a:rPr sz="2200" b="0" i="0">
                <a:solidFill>
                  <a:srgbClr val="2C3E50"/>
                </a:solidFill>
              </a:rPr>
              <a:t> = legionary fortress; </a:t>
            </a:r>
            <a:r>
              <a:rPr sz="2200" b="0" i="1">
                <a:solidFill>
                  <a:srgbClr val="2C3E50"/>
                </a:solidFill>
              </a:rPr>
              <a:t>castellum</a:t>
            </a:r>
            <a:r>
              <a:rPr sz="2200" b="0" i="0">
                <a:solidFill>
                  <a:srgbClr val="2C3E50"/>
                </a:solidFill>
              </a:rPr>
              <a:t> = auxiliary fort; not a “castle”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13/12 BC: </a:t>
            </a:r>
            <a:r>
              <a:rPr sz="2200" b="0" i="0">
                <a:solidFill>
                  <a:srgbClr val="2C3E50"/>
                </a:solidFill>
              </a:rPr>
              <a:t>Augustan base opposite the Lippe mouth, probably for Drusus’ campaigns; earth-and-timber camps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AD 14–60: </a:t>
            </a:r>
            <a:r>
              <a:rPr sz="2200" b="0" i="0">
                <a:solidFill>
                  <a:srgbClr val="2C3E50"/>
                </a:solidFill>
              </a:rPr>
              <a:t>two legions, rebuilt several times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c. AD 60: </a:t>
            </a:r>
            <a:r>
              <a:rPr sz="2200" b="1" i="0">
                <a:solidFill>
                  <a:srgbClr val="2C3E50"/>
                </a:solidFill>
              </a:rPr>
              <a:t>double-legion fortress</a:t>
            </a:r>
            <a:r>
              <a:rPr sz="2200" b="0" i="0">
                <a:solidFill>
                  <a:srgbClr val="2C3E50"/>
                </a:solidFill>
              </a:rPr>
              <a:t> (legio V and XV), 902 m × 621 m ≈ 56 ha, the largest known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Lower Germanic Limes: </a:t>
            </a:r>
            <a:r>
              <a:rPr sz="2200" b="0" i="0">
                <a:solidFill>
                  <a:srgbClr val="2C3E50"/>
                </a:solidFill>
              </a:rPr>
              <a:t>river frontier (</a:t>
            </a:r>
            <a:r>
              <a:rPr sz="2200" b="0" i="1">
                <a:solidFill>
                  <a:srgbClr val="2C3E50"/>
                </a:solidFill>
              </a:rPr>
              <a:t>ripa</a:t>
            </a:r>
            <a:r>
              <a:rPr sz="2200" b="0" i="0">
                <a:solidFill>
                  <a:srgbClr val="2C3E50"/>
                </a:solidFill>
              </a:rPr>
              <a:t>), no continuous wall; UNESCO 2021</a:t>
            </a:r>
          </a:p>
        </p:txBody>
      </p:sp>
      <p:pic>
        <p:nvPicPr>
          <p:cNvPr id="6" name="Picture 5" descr="vetera_fortress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565" y="1143000"/>
            <a:ext cx="3881548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5532120"/>
            <a:ext cx="41605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D6D7E"/>
                </a:solidFill>
              </a:rPr>
              <a:t>schematic: wall circuit to scale, ditches exaggerated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Text: distilled from Wikipedia (CC BY-SA 4.0), see the last slide. Figures: own work (make_slides.py), CC BY-SA 4.0.</a:t>
            </a:r>
          </a:p>
        </p:txBody>
      </p:sp>
      <p:sp>
        <p:nvSpPr>
          <p:cNvPr id="9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Vetera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Lower Germanic Limes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Castra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7"/>
              </a:rPr>
              <a:t>Vetera (de)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Vetera I, c. AD 60: defences and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75895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31089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Latin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English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Vetera I, c. AD 60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vallum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rampart, palisade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earlier phases: earth-and-timber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murus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wall, wall walk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 m, timber frame, clay infill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turres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towers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presumed, not proven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portae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gates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4, each 2 towers + bridge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fossae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V-shaped ditches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2, plus abatis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principia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headquarters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stone, 120 m × 94.8 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valetudinarium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hospital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stone, 83.5 m × 83.5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vetera_fortress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361138"/>
            <a:ext cx="3429000" cy="39985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Text: distilled from Wikipedia (CC BY-SA 4.0), see the last slide. Figures: own work (make_slides.py), CC BY-SA 4.0.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Vetera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Castra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Vetera (de)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AD 68–70: four emperors, Batavian revolt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B3A57"/>
                </a:solidFill>
              </a:rPr>
              <a:t>Rome: four emperors in one year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52578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63040"/>
                <a:gridCol w="28803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emperor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end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Nero 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9 June 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68–69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Galba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murdered 15 Jan 69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Otho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suicide, April 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69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Vitellius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acclaimed by the Rhine legions; killed 20 Dec 69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69–79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Vespasian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Flavian dynasty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234440"/>
            <a:ext cx="5486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B3A57"/>
                </a:solidFill>
              </a:rPr>
              <a:t>Lower Rhine: revolt of the Batavi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83080"/>
            <a:ext cx="5486400" cy="3931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Batavi: </a:t>
            </a:r>
            <a:r>
              <a:rPr sz="2200" b="0" i="0">
                <a:solidFill>
                  <a:srgbClr val="2C3E50"/>
                </a:solidFill>
              </a:rPr>
              <a:t>Germanic people in the Rhine delta, allies supplying auxiliary troops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Julius Civilis: </a:t>
            </a:r>
            <a:r>
              <a:rPr sz="2200" b="0" i="0">
                <a:solidFill>
                  <a:srgbClr val="2C3E50"/>
                </a:solidFill>
              </a:rPr>
              <a:t>Batavian noble, Roman citizen, prefect of a cohort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69: </a:t>
            </a:r>
            <a:r>
              <a:rPr sz="2200" b="0" i="0">
                <a:solidFill>
                  <a:srgbClr val="2C3E50"/>
                </a:solidFill>
              </a:rPr>
              <a:t>revolt during the civil war; Vetera besieged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70: </a:t>
            </a:r>
            <a:r>
              <a:rPr sz="2200" b="0" i="0">
                <a:solidFill>
                  <a:srgbClr val="2C3E50"/>
                </a:solidFill>
              </a:rPr>
              <a:t>Vetera surrenders (hunger), legions V and XV destroyed, fortress burnt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summer 70: </a:t>
            </a:r>
            <a:r>
              <a:rPr sz="2200" b="0" i="0">
                <a:solidFill>
                  <a:srgbClr val="2C3E50"/>
                </a:solidFill>
              </a:rPr>
              <a:t>Cerialis defeats Civilis at Vetera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Text: distilled from Wikipedia (CC BY-SA 4.0), see the last slide. Figures: own work (make_slides.py), CC BY-SA 4.0. Main ancient source: Tacitus, Histories.</a:t>
            </a:r>
          </a:p>
        </p:txBody>
      </p:sp>
      <p:sp>
        <p:nvSpPr>
          <p:cNvPr id="10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3"/>
              </a:rPr>
              <a:t>Year of the Four Emperors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4"/>
              </a:rPr>
              <a:t>Revolt of the Batavi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Gaius Julius Civilis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Colonia Ulpia Traiana (Xanten)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4480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Before: </a:t>
            </a:r>
            <a:r>
              <a:rPr sz="2200" b="0" i="0">
                <a:solidFill>
                  <a:srgbClr val="2C3E50"/>
                </a:solidFill>
              </a:rPr>
              <a:t>settlement of the Cugerni next to Vetera I, probably burnt in AD 70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c. AD 100: </a:t>
            </a:r>
            <a:r>
              <a:rPr sz="2200" b="0" i="0">
                <a:solidFill>
                  <a:srgbClr val="2C3E50"/>
                </a:solidFill>
              </a:rPr>
              <a:t>Emperor Trajan (Marcus </a:t>
            </a:r>
            <a:r>
              <a:rPr sz="2200" b="0" i="1">
                <a:solidFill>
                  <a:srgbClr val="2C3E50"/>
                </a:solidFill>
              </a:rPr>
              <a:t>Ulpius Traianus</a:t>
            </a:r>
            <a:r>
              <a:rPr sz="2200" b="0" i="0">
                <a:solidFill>
                  <a:srgbClr val="2C3E50"/>
                </a:solidFill>
              </a:rPr>
              <a:t>) grants the rank of </a:t>
            </a:r>
            <a:r>
              <a:rPr sz="2200" b="0" i="1">
                <a:solidFill>
                  <a:srgbClr val="2C3E50"/>
                </a:solidFill>
              </a:rPr>
              <a:t>colonia</a:t>
            </a:r>
            <a:r>
              <a:rPr sz="2200" b="0" i="0">
                <a:solidFill>
                  <a:srgbClr val="2C3E50"/>
                </a:solidFill>
              </a:rPr>
              <a:t>, the highest rank of a Roman town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73 ha</a:t>
            </a:r>
            <a:r>
              <a:rPr sz="2200" b="0" i="0">
                <a:solidFill>
                  <a:srgbClr val="2C3E50"/>
                </a:solidFill>
              </a:rPr>
              <a:t> inside a 3.4 km town wall with 22 towers; c. 10 000 inhabitants; grid of 40 </a:t>
            </a:r>
            <a:r>
              <a:rPr sz="2200" b="0" i="1">
                <a:solidFill>
                  <a:srgbClr val="2C3E50"/>
                </a:solidFill>
              </a:rPr>
              <a:t>insulae</a:t>
            </a:r>
            <a:r>
              <a:rPr sz="2200" b="0" i="0">
                <a:solidFill>
                  <a:srgbClr val="2C3E50"/>
                </a:solidFill>
              </a:rPr>
              <a:t> with forum, capitol, baths, harbour temple, amphitheatre; harbour on a Rhine arm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Built partly with stones from the ruins of Vetera I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3rd–5th century: </a:t>
            </a:r>
            <a:r>
              <a:rPr sz="2200" b="0" i="0">
                <a:solidFill>
                  <a:srgbClr val="2C3E50"/>
                </a:solidFill>
              </a:rPr>
              <a:t>decline; late Roman fortress on the 9 central insulae; taken by the Franks in 352, abandoned in the 5th century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Today: </a:t>
            </a:r>
            <a:r>
              <a:rPr sz="2200" b="0" i="0">
                <a:solidFill>
                  <a:srgbClr val="2C3E50"/>
                </a:solidFill>
              </a:rPr>
              <a:t>LVR Archaeological Park Xanten; part of the UNESCO World Heritage site since 2021. Find it on the DTK25 photo!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Text: distilled from Wikipedia (CC BY-SA 4.0), see the last slide. Figures: own work (make_slides.py), CC BY-SA 4.0.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3"/>
              </a:rPr>
              <a:t>Colonia Ulpia Traiana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4"/>
              </a:rPr>
              <a:t>Xanten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Archaeological Park Xanten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Xanten in Roman times: a time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xanten_time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14225"/>
            <a:ext cx="11064240" cy="38752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Text: distilled from Wikipedia (CC BY-SA 4.0), see the last slide. Figures: own work (make_slides.py), CC BY-SA 4.0.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Vetera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Colonia Ulpia Traiana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Lower Germanic Limes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The method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/>
              </a:rPr>
              <a:t>control points · transformations · RMS · resampling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What georeferencing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georef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465" y="1097280"/>
            <a:ext cx="645458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160520"/>
            <a:ext cx="1106424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Ground control point (GCP): </a:t>
            </a:r>
            <a:r>
              <a:rPr sz="2200" b="0" i="0">
                <a:solidFill>
                  <a:srgbClr val="2C3E50"/>
                </a:solidFill>
              </a:rPr>
              <a:t>known in the image (column, row) and on the map (E, N)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Transformation: </a:t>
            </a:r>
            <a:r>
              <a:rPr sz="2200" b="0" i="0">
                <a:solidFill>
                  <a:srgbClr val="2C3E50"/>
                </a:solidFill>
              </a:rPr>
              <a:t>fitted to the GCPs, applied to every pixel → GeoTIFF in the target CRS</a:t>
            </a:r>
          </a:p>
          <a:p>
            <a:r>
              <a:rPr sz="2000" u="sng">
                <a:solidFill>
                  <a:srgbClr val="1F6391"/>
                </a:solidFill>
                <a:hlinkClick r:id="rId4"/>
              </a:rPr>
              <a:t>QGIS user manual: Georeferencer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Figure: own work (make_slides.py), CC BY-SA 4.0; schematic.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5"/>
              </a:rPr>
              <a:t>Georeferencing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Ground control point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7"/>
              </a:rPr>
              <a:t>Image registration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8"/>
              </a:rPr>
              <a:t>World file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9"/>
              </a:rPr>
              <a:t>GeoTIFF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Ground control points: where to click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georef_gcp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207" y="1142999"/>
            <a:ext cx="8093104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434840"/>
            <a:ext cx="1106424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Spread</a:t>
            </a:r>
            <a:r>
              <a:rPr sz="2200" b="0" i="0">
                <a:solidFill>
                  <a:srgbClr val="2C3E50"/>
                </a:solidFill>
              </a:rPr>
              <a:t> the GCPs over the whole image, corners included: no extrapolation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Sharp and stable: </a:t>
            </a:r>
            <a:r>
              <a:rPr sz="2200" b="0" i="0">
                <a:solidFill>
                  <a:srgbClr val="2C3E50"/>
                </a:solidFill>
              </a:rPr>
              <a:t>grid crossings, road crossings, bridges; not rivers or forest edges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Enough: </a:t>
            </a:r>
            <a:r>
              <a:rPr sz="2200" b="0" i="0">
                <a:solidFill>
                  <a:srgbClr val="2C3E50"/>
                </a:solidFill>
              </a:rPr>
              <a:t>2–3 × the minimum of the transformation, plus check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Figures: own work (make_slides.py), CC BY-SA 4.0; simulated example, not the map photo.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Transformations in the Georeferencer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georef_transform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113484"/>
            <a:ext cx="11064240" cy="29393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6240"/>
            <a:ext cx="1106424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More parameters </a:t>
            </a:r>
            <a:r>
              <a:rPr sz="2200" b="0" i="0">
                <a:solidFill>
                  <a:srgbClr val="2C3E50"/>
                </a:solidFill>
              </a:rPr>
              <a:t>fit the GCPs better, but need more GCPs and can bend the image between them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Choose by the source: </a:t>
            </a:r>
            <a:r>
              <a:rPr sz="2200" b="0" i="0">
                <a:solidFill>
                  <a:srgbClr val="2C3E50"/>
                </a:solidFill>
              </a:rPr>
              <a:t>scan of a good map → Helmert / Polynomial 1; photo taken at an angle → Projective; warped paper → Polynomial 2; poor originals → Thin Plate Spline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Text: QGIS user manual, Georeferencer (docs.qgis.org, CC BY-SA 3.0). Figures: own work (make_slides.py), CC BY-SA 4.0.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Helmert transformation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Affine transformation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Homography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7"/>
              </a:rPr>
              <a:t>Thin plate spline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Residuals and RMS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georef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53" y="1143000"/>
            <a:ext cx="5037413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234440"/>
            <a:ext cx="53035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3A57"/>
                </a:solidFill>
              </a:rPr>
              <a:t>RMS = √[ Σ (dX² + dY²) / n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057400"/>
            <a:ext cx="5303520" cy="3566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Residual: </a:t>
            </a:r>
            <a:r>
              <a:rPr sz="2200" b="0" i="0">
                <a:solidFill>
                  <a:srgbClr val="2C3E50"/>
                </a:solidFill>
              </a:rPr>
              <a:t>how far a GCP lands from its map position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RMS: </a:t>
            </a:r>
            <a:r>
              <a:rPr sz="2200" b="0" i="0">
                <a:solidFill>
                  <a:srgbClr val="2C3E50"/>
                </a:solidFill>
              </a:rPr>
              <a:t>one number for all GCPs, in pixels or metres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Systematic pattern </a:t>
            </a:r>
            <a:r>
              <a:rPr sz="2200" b="0" i="0">
                <a:solidFill>
                  <a:srgbClr val="2C3E50"/>
                </a:solidFill>
              </a:rPr>
              <a:t>→ transformation too simple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One long arrow </a:t>
            </a:r>
            <a:r>
              <a:rPr sz="2200" b="0" i="0">
                <a:solidFill>
                  <a:srgbClr val="2C3E50"/>
                </a:solidFill>
              </a:rPr>
              <a:t>→ wrong click: fix it or switch the GCP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Figures: own work (make_slides.py), CC BY-SA 4.0; simulated example, not the map photo.</a:t>
            </a:r>
          </a:p>
        </p:txBody>
      </p:sp>
      <p:sp>
        <p:nvSpPr>
          <p:cNvPr id="9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Errors and residuals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Root-mean-square deviation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Least squares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A small RMS is not yet an accurate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georef_fit_vs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9286"/>
            <a:ext cx="5669280" cy="38336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1234440"/>
            <a:ext cx="5212080" cy="4389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RMS at the GCPs </a:t>
            </a:r>
            <a:r>
              <a:rPr sz="2200" b="0" i="0">
                <a:solidFill>
                  <a:srgbClr val="2C3E50"/>
                </a:solidFill>
              </a:rPr>
              <a:t>shrinks with every extra parameter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Thin Plate Spline (TPS): </a:t>
            </a:r>
            <a:r>
              <a:rPr sz="2200" b="0" i="0">
                <a:solidFill>
                  <a:srgbClr val="2C3E50"/>
                </a:solidFill>
              </a:rPr>
              <a:t>RMS = 0 by construction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Check points: </a:t>
            </a:r>
            <a:r>
              <a:rPr sz="2200" b="0" i="0">
                <a:solidFill>
                  <a:srgbClr val="2C3E50"/>
                </a:solidFill>
              </a:rPr>
              <a:t>switch 3–5 GCPs off and look at their error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Report: </a:t>
            </a:r>
            <a:r>
              <a:rPr sz="2200" b="0" i="0">
                <a:solidFill>
                  <a:srgbClr val="2C3E50"/>
                </a:solidFill>
              </a:rPr>
              <a:t>transformation, number of GCPs, RMS and check error in metres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Figures: own work (make_slides.py), CC BY-SA 4.0; simulated example, not the map photo.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Overfitting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Cross-validation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Resampling: new pixels from old 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georef_resamp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428" y="1143000"/>
            <a:ext cx="8976663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26280"/>
            <a:ext cx="11064240" cy="12344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Nearest neighbour: </a:t>
            </a:r>
            <a:r>
              <a:rPr sz="2200" b="0" i="0">
                <a:solidFill>
                  <a:srgbClr val="2C3E50"/>
                </a:solidFill>
              </a:rPr>
              <a:t>keeps the original values; required for classes and codes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Bilinear, cubic: </a:t>
            </a:r>
            <a:r>
              <a:rPr sz="2200" b="0" i="0">
                <a:solidFill>
                  <a:srgbClr val="2C3E50"/>
                </a:solidFill>
              </a:rPr>
              <a:t>smoother, but mixed values; fine for photos and map scans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Figure: own work (make_slides.py), CC BY-SA 4.0; a synthetic map patch rotated by 17°, ×5.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Nearest-neighbor interpolation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Bilinear interpolation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Bicubic interpolation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Georeferencing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1064240" cy="224028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import numpy as np, pandas as pd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g = pd.read_csv("dtk_photo.points", comment="#")   # QGIS GCP file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A = np.c_[g.sourceX, g.sourceY, np.ones(len(g))]    # Polynomial 1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xy = g[["mapX", "mapY"]].to_numpy()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coef, *_ = np.linalg.lstsq(A, xy, rcond=None)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print("RMS", np.sqrt(((A @ coef - xy) ** 2).sum(1).mean()))</a:t>
            </a:r>
          </a:p>
        </p:txBody>
      </p:sp>
      <p:sp>
        <p:nvSpPr>
          <p:cNvPr id="6" name="code"/>
          <p:cNvSpPr/>
          <p:nvPr/>
        </p:nvSpPr>
        <p:spPr>
          <a:xfrm>
            <a:off x="548640" y="3611880"/>
            <a:ext cx="11064240" cy="123444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gdal_translate -gcp 103.1 402.4 322000 5728000 ... a.jpg a_gcp.tif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gdalwarp -t_srs EPSG:25832 -order 1 -r cubic a_gcp.tif a_utm.tif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5D6D7E"/>
                </a:solidFill>
                <a:latin typeface="Courier New"/>
              </a:rPr>
              <a:t># -order 2: Polynomial 2,  -tps: Thin Plate Spline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3A57"/>
                </a:solidFill>
              </a:rPr>
              <a:t>Same mathematics as the Georeferencer: </a:t>
            </a:r>
            <a:r>
              <a:rPr sz="2200" b="0" i="0">
                <a:solidFill>
                  <a:srgbClr val="2C3E50"/>
                </a:solidFill>
              </a:rPr>
              <a:t>least squares on the GCPs, then warp and resample. Extend: leave-one-out check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Code: own example (CC BY-SA 4.0); GDAL utilities gdal_translate, gdalwarp.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Take-aways: georeferencing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4572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200"/>
              </a:spcAft>
              <a:buChar char="•"/>
            </a:pPr>
            <a:r>
              <a:rPr sz="2400" b="1" i="0">
                <a:solidFill>
                  <a:srgbClr val="2C3E50"/>
                </a:solidFill>
              </a:rPr>
              <a:t>Know the CRS of your GCPs: </a:t>
            </a:r>
            <a:r>
              <a:rPr sz="2400" b="0" i="0">
                <a:solidFill>
                  <a:srgbClr val="2C3E50"/>
                </a:solidFill>
              </a:rPr>
              <a:t>read the map legend (grid, datum)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400" b="1" i="0">
                <a:solidFill>
                  <a:srgbClr val="2C3E50"/>
                </a:solidFill>
              </a:rPr>
              <a:t>Spread sharp, stable GCPs </a:t>
            </a:r>
            <a:r>
              <a:rPr sz="2400" b="0" i="0">
                <a:solidFill>
                  <a:srgbClr val="2C3E50"/>
                </a:solidFill>
              </a:rPr>
              <a:t>over the whole image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400" b="1" i="0">
                <a:solidFill>
                  <a:srgbClr val="2C3E50"/>
                </a:solidFill>
              </a:rPr>
              <a:t>Choose the transformation by the source, </a:t>
            </a:r>
            <a:r>
              <a:rPr sz="2400" b="0" i="0">
                <a:solidFill>
                  <a:srgbClr val="2C3E50"/>
                </a:solidFill>
              </a:rPr>
              <a:t>not by the smallest RMS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400" b="1" i="0">
                <a:solidFill>
                  <a:srgbClr val="2C3E50"/>
                </a:solidFill>
              </a:rPr>
              <a:t>Judge with check points </a:t>
            </a:r>
            <a:r>
              <a:rPr sz="2400" b="0" i="0">
                <a:solidFill>
                  <a:srgbClr val="2C3E50"/>
                </a:solidFill>
              </a:rPr>
              <a:t>and by overlaying a reference map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400" b="1" i="0">
                <a:solidFill>
                  <a:srgbClr val="2C3E50"/>
                </a:solidFill>
              </a:rPr>
              <a:t>Resample with nearest neighbour </a:t>
            </a:r>
            <a:r>
              <a:rPr sz="2400" b="0" i="0">
                <a:solidFill>
                  <a:srgbClr val="2C3E50"/>
                </a:solidFill>
              </a:rPr>
              <a:t>when the values are classes; cubic for photos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400" b="1" i="0">
                <a:solidFill>
                  <a:srgbClr val="2C3E50"/>
                </a:solidFill>
              </a:rPr>
              <a:t>Keep the .points file: </a:t>
            </a:r>
            <a:r>
              <a:rPr sz="2400" b="0" i="0">
                <a:solidFill>
                  <a:srgbClr val="2C3E50"/>
                </a:solidFill>
              </a:rPr>
              <a:t>it documents and repeats your 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Case study: Castra Vetera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/>
              </a:rPr>
              <a:t>TK25 4304 Xanten (1998) · Vetera I reconstruction · DTM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The processing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429000" cy="1417320"/>
          </a:xfrm>
          <a:prstGeom prst="rect">
            <a:avLst/>
          </a:prstGeom>
          <a:solidFill>
            <a:srgbClr val="E3F0FA"/>
          </a:solidFill>
          <a:ln w="15875">
            <a:solidFill>
              <a:srgbClr val="1F6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400" b="1" i="0">
                <a:solidFill>
                  <a:srgbClr val="1B3A57"/>
                </a:solidFill>
              </a:rPr>
              <a:t>1 Photo</a:t>
            </a:r>
          </a:p>
          <a:p>
            <a:pPr algn="ctr"/>
            <a:r>
              <a:rPr sz="2100" b="0" i="1">
                <a:solidFill>
                  <a:srgbClr val="1B3A57"/>
                </a:solidFill>
              </a:rPr>
              <a:t>TK25 4304 Xanten, 1998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96512" y="2080260"/>
            <a:ext cx="356616" cy="0"/>
          </a:xfrm>
          <a:prstGeom prst="line">
            <a:avLst/>
          </a:prstGeom>
          <a:ln w="31750">
            <a:solidFill>
              <a:srgbClr val="1B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480560" y="1371600"/>
            <a:ext cx="3429000" cy="1417320"/>
          </a:xfrm>
          <a:prstGeom prst="rect">
            <a:avLst/>
          </a:prstGeom>
          <a:solidFill>
            <a:srgbClr val="E3F0FA"/>
          </a:solidFill>
          <a:ln w="15875">
            <a:solidFill>
              <a:srgbClr val="1F6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400" b="1" i="0">
                <a:solidFill>
                  <a:srgbClr val="1B3A57"/>
                </a:solidFill>
              </a:rPr>
              <a:t>2 Georeference</a:t>
            </a:r>
          </a:p>
          <a:p>
            <a:pPr algn="ctr"/>
            <a:r>
              <a:rPr sz="2100" b="0" i="1">
                <a:solidFill>
                  <a:srgbClr val="1B3A57"/>
                </a:solidFill>
              </a:rPr>
              <a:t>UTM grid crossings → EPSG:25832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36992" y="2080260"/>
            <a:ext cx="356616" cy="0"/>
          </a:xfrm>
          <a:prstGeom prst="line">
            <a:avLst/>
          </a:prstGeom>
          <a:ln w="31750">
            <a:solidFill>
              <a:srgbClr val="1B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321040" y="1371600"/>
            <a:ext cx="3429000" cy="1417320"/>
          </a:xfrm>
          <a:prstGeom prst="rect">
            <a:avLst/>
          </a:prstGeom>
          <a:solidFill>
            <a:srgbClr val="E3F0FA"/>
          </a:solidFill>
          <a:ln w="15875">
            <a:solidFill>
              <a:srgbClr val="1F6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400" b="1" i="0">
                <a:solidFill>
                  <a:srgbClr val="1B3A57"/>
                </a:solidFill>
              </a:rPr>
              <a:t>3 Digitise</a:t>
            </a:r>
          </a:p>
          <a:p>
            <a:pPr algn="ctr"/>
            <a:r>
              <a:rPr sz="2100" b="0" i="1">
                <a:solidFill>
                  <a:srgbClr val="1B3A57"/>
                </a:solidFill>
              </a:rPr>
              <a:t>location of Castra Vetera → polygon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40"/>
            <a:ext cx="3429000" cy="1417320"/>
          </a:xfrm>
          <a:prstGeom prst="rect">
            <a:avLst/>
          </a:prstGeom>
          <a:solidFill>
            <a:srgbClr val="FDEBD0"/>
          </a:solidFill>
          <a:ln w="15875">
            <a:solidFill>
              <a:srgbClr val="A84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400" b="1" i="0">
                <a:solidFill>
                  <a:srgbClr val="1B3A57"/>
                </a:solidFill>
              </a:rPr>
              <a:t>4 Georeference</a:t>
            </a:r>
          </a:p>
          <a:p>
            <a:pPr algn="ctr"/>
            <a:r>
              <a:rPr sz="2100" b="0" i="1">
                <a:solidFill>
                  <a:srgbClr val="1B3A57"/>
                </a:solidFill>
              </a:rPr>
              <a:t>Dießenbacher's reconstruction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96512" y="4229100"/>
            <a:ext cx="356616" cy="0"/>
          </a:xfrm>
          <a:prstGeom prst="line">
            <a:avLst/>
          </a:prstGeom>
          <a:ln w="31750">
            <a:solidFill>
              <a:srgbClr val="1B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480560" y="3520440"/>
            <a:ext cx="3429000" cy="1417320"/>
          </a:xfrm>
          <a:prstGeom prst="rect">
            <a:avLst/>
          </a:prstGeom>
          <a:solidFill>
            <a:srgbClr val="FDEBD0"/>
          </a:solidFill>
          <a:ln w="15875">
            <a:solidFill>
              <a:srgbClr val="A84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400" b="1" i="0">
                <a:solidFill>
                  <a:srgbClr val="1B3A57"/>
                </a:solidFill>
              </a:rPr>
              <a:t>5 Overlay</a:t>
            </a:r>
          </a:p>
          <a:p>
            <a:pPr algn="ctr"/>
            <a:r>
              <a:rPr sz="2100" b="0" i="1">
                <a:solidFill>
                  <a:srgbClr val="1B3A57"/>
                </a:solidFill>
              </a:rPr>
              <a:t>DTM hillshade + DTK WMS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36992" y="4229100"/>
            <a:ext cx="356616" cy="0"/>
          </a:xfrm>
          <a:prstGeom prst="line">
            <a:avLst/>
          </a:prstGeom>
          <a:ln w="31750">
            <a:solidFill>
              <a:srgbClr val="1B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321040" y="3520440"/>
            <a:ext cx="3429000" cy="1417320"/>
          </a:xfrm>
          <a:prstGeom prst="rect">
            <a:avLst/>
          </a:prstGeom>
          <a:solidFill>
            <a:srgbClr val="FDEBD0"/>
          </a:solidFill>
          <a:ln w="15875">
            <a:solidFill>
              <a:srgbClr val="A84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400" b="1" i="0">
                <a:solidFill>
                  <a:srgbClr val="1B3A57"/>
                </a:solidFill>
              </a:rPr>
              <a:t>6 Interpret</a:t>
            </a:r>
          </a:p>
          <a:p>
            <a:pPr algn="ctr"/>
            <a:r>
              <a:rPr sz="2100" b="0" i="1">
                <a:solidFill>
                  <a:srgbClr val="1B3A57"/>
                </a:solidFill>
              </a:rPr>
              <a:t>terrain vs. map vs. reconstruction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35540" y="2807208"/>
            <a:ext cx="0" cy="347471"/>
          </a:xfrm>
          <a:prstGeom prst="line">
            <a:avLst/>
          </a:prstGeom>
          <a:ln w="31750">
            <a:solidFill>
              <a:srgbClr val="1B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354580" y="3154679"/>
            <a:ext cx="7680960" cy="0"/>
          </a:xfrm>
          <a:prstGeom prst="line">
            <a:avLst/>
          </a:prstGeom>
          <a:ln w="31750">
            <a:solidFill>
              <a:srgbClr val="1B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54580" y="3154679"/>
            <a:ext cx="0" cy="347472"/>
          </a:xfrm>
          <a:prstGeom prst="line">
            <a:avLst/>
          </a:prstGeom>
          <a:ln w="31750">
            <a:solidFill>
              <a:srgbClr val="1B3A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5D6D7E"/>
                </a:solidFill>
              </a:rPr>
              <a:t>Tool: QGIS Georeferencer (Layer → Georeferencer…), digitising in a GeoPackage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Investigate the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4480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2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Type of map: </a:t>
            </a:r>
            <a:r>
              <a:rPr sz="2200" b="0" i="0">
                <a:solidFill>
                  <a:srgbClr val="2C3E50"/>
                </a:solidFill>
              </a:rPr>
              <a:t>which map series, scale, edition name?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Publisher: </a:t>
            </a:r>
            <a:r>
              <a:rPr sz="2200" b="0" i="0">
                <a:solidFill>
                  <a:srgbClr val="2C3E50"/>
                </a:solidFill>
              </a:rPr>
              <a:t>who made it? Who is responsible today?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Year: </a:t>
            </a:r>
            <a:r>
              <a:rPr sz="2200" b="0" i="0">
                <a:solidFill>
                  <a:srgbClr val="2C3E50"/>
                </a:solidFill>
              </a:rPr>
              <a:t>edition, last update, sales period – how current is the content?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CRS: </a:t>
            </a:r>
            <a:r>
              <a:rPr sz="2200" b="0" i="0">
                <a:solidFill>
                  <a:srgbClr val="2C3E50"/>
                </a:solidFill>
              </a:rPr>
              <a:t>geodetic datum, ellipsoid, projection of the map content?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Grids: </a:t>
            </a:r>
            <a:r>
              <a:rPr sz="2200" b="0" i="0">
                <a:solidFill>
                  <a:srgbClr val="2C3E50"/>
                </a:solidFill>
              </a:rPr>
              <a:t>which coordinate grids are printed, and in which CRS? Which EPSG code do you use in the Georeferencer?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Look at: </a:t>
            </a:r>
            <a:r>
              <a:rPr sz="2200" b="0" i="0">
                <a:solidFill>
                  <a:srgbClr val="2C3E50"/>
                </a:solidFill>
              </a:rPr>
              <a:t>cover, legend (Geodätische Grundlagen, Koordinaten und Höhen der Karte), map margin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Read the map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margin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72" y="1188720"/>
            <a:ext cx="578229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234440"/>
            <a:ext cx="5029200" cy="4480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2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Which lines belong to the UTM grid?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What do the numbers mean? What are the small raised digits?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What is the interval between two lines – in km and in cm on the map?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And the boxed numbers and the corner values?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Figure: own schematic after the map margin (not to scale), CC BY-SA 4.0.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Universal Transverse Mercator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Gauss-Krüger (de)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Our map has three coordinate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291840"/>
                <a:gridCol w="1188720"/>
                <a:gridCol w="26517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on the map sheet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datum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EPSG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for the GCPs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UTM zone 32, km grid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ETRS89 (“WGS84/ETRS89”)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25832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yes: grid crossings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Gauss-Krüger, zone 2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DHDN (Potsdam, Bessel)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31466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only with 31466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geographic, ° ′ 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DHDN (Potsdam, Bessel)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4314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never as 4326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1B3A57"/>
                </a:solidFill>
              </a:rPr>
              <a:t>Read the legend first: </a:t>
            </a:r>
            <a:r>
              <a:rPr sz="2200" b="0" i="0">
                <a:solidFill>
                  <a:srgbClr val="2C3E50"/>
                </a:solidFill>
              </a:rPr>
              <a:t>which grid, which datum? The sheet itself says how to convert GNSS positions: +2.5″ longitude, +4.8″ latitude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1B3A57"/>
                </a:solidFill>
              </a:rPr>
              <a:t>Same numbers, wrong datum: </a:t>
            </a:r>
            <a:r>
              <a:rPr sz="2200" b="0" i="0">
                <a:solidFill>
                  <a:srgbClr val="2C3E50"/>
                </a:solidFill>
              </a:rPr>
              <a:t>about 155 m off (geo0220, DHDN → ETRS89)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1B3A57"/>
                </a:solidFill>
              </a:rPr>
              <a:t>Our choice: </a:t>
            </a:r>
            <a:r>
              <a:rPr sz="2200" b="0" i="0">
                <a:solidFill>
                  <a:srgbClr val="2C3E50"/>
                </a:solidFill>
              </a:rPr>
              <a:t>UTM grid crossings at full kilometres, target CRS EPSG:25832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Source: legend of DTK25 4304 Xanten, Landesvermessungsamt NRW, 1998 (facts only).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3"/>
              </a:rPr>
              <a:t>Universal Transverse Mercator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4"/>
              </a:rPr>
              <a:t>Gauß-Krüger-Koordinatensystem (de)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Deutsches Hauptdreiecksnetz (de)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Ground control points: the grid crossings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gcp_enum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96017"/>
            <a:ext cx="4206240" cy="4511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1234440"/>
            <a:ext cx="6492240" cy="4480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2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The red circles on the detail number the crossings (row, column): a common reference for everyone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Determine (E, N) of every crossing from the blue numbers in the margin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Enter them in the Georeferencer, target CRS EPSG:25832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Compare transformations and their RMS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Figure: own work, CC BY-SA 4.0.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Today's DTK: where is Castra Vetera?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wms_dtk_25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18872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30368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5D6D7E"/>
                </a:solidFill>
              </a:rPr>
              <a:t>1:25 000</a:t>
            </a:r>
          </a:p>
        </p:txBody>
      </p:sp>
      <p:pic>
        <p:nvPicPr>
          <p:cNvPr id="7" name="Picture 6" descr="wms_dtk_lar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18872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57800" y="5230368"/>
            <a:ext cx="4023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5D6D7E"/>
                </a:solidFill>
              </a:rPr>
              <a:t>about 1:6 000 (zoomed 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34440"/>
            <a:ext cx="2194560" cy="4023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1998: label and KD mark the approximate location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What is left today?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Digitise the location from the 1998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© Geobasis NRW (dl-de/zero-2-0), WMS. Left 2.8 km × 2.8 km, right 1.4 km × 1.4 km, EPSG:25832.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Task: read the DTM hillshade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wms_hillsh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52628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1234440"/>
            <a:ext cx="6309360" cy="4480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2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Overlay your georeferenced map and the polygon of Castra Vetera with the DTM hillshade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Which pronounced features does the hillshade show around the polygon? Describe them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Which of them do you find on the 1998 map, which on today's DTK?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DTM hillshade: © Geobasis NRW (dl-de/zero-2-0), WMS (wms_nw_dgm-schummerung), 2.8 km × 2.8 km.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Hillshading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Digital elevation model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Task: interpret the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4480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4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Georeference Dießenbacher's reconstruction (GCPs from your georeferenced map and the DTM)</a:t>
            </a:r>
          </a:p>
          <a:p>
            <a:pPr algn="l" marL="256032" indent="-228600">
              <a:spcAft>
                <a:spcPts val="14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Overlay it with the DTM hillshade and the DTK</a:t>
            </a:r>
          </a:p>
          <a:p>
            <a:pPr algn="l" marL="256032" indent="-228600">
              <a:spcAft>
                <a:spcPts val="14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How does the reconstruction imagine the surroundings of Castra Vetera?</a:t>
            </a:r>
          </a:p>
          <a:p>
            <a:pPr algn="l" marL="256032" indent="-228600">
              <a:spcAft>
                <a:spcPts val="14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Find inconsistencies between the reconstruction and the terrain. What could be the reasons?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Sources and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geo0240 · Georeferencing: Castra Vetera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sources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Castra Vetera I on the Fürstenberg: </a:t>
            </a:r>
            <a:r>
              <a:rPr sz="1600" u="sng">
                <a:solidFill>
                  <a:srgbClr val="1F6391"/>
                </a:solidFill>
                <a:hlinkClick r:id="rId3"/>
              </a:rPr>
              <a:t>Vetera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4"/>
              </a:rPr>
              <a:t>Lower Germanic Limes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5"/>
              </a:rPr>
              <a:t>Castra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6"/>
              </a:rPr>
              <a:t>Vetera (de)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Vetera I, c. AD 60: defences and layout: </a:t>
            </a:r>
            <a:r>
              <a:rPr sz="1600" u="sng">
                <a:solidFill>
                  <a:srgbClr val="1F6391"/>
                </a:solidFill>
                <a:hlinkClick r:id="rId3"/>
              </a:rPr>
              <a:t>Vetera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5"/>
              </a:rPr>
              <a:t>Castra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6"/>
              </a:rPr>
              <a:t>Vetera (de)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AD 68–70: four emperors, Batavian revolt: </a:t>
            </a:r>
            <a:r>
              <a:rPr sz="1600" u="sng">
                <a:solidFill>
                  <a:srgbClr val="1F6391"/>
                </a:solidFill>
                <a:hlinkClick r:id="rId7"/>
              </a:rPr>
              <a:t>Year of the Four Emperors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8"/>
              </a:rPr>
              <a:t>Revolt of the Batavi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9"/>
              </a:rPr>
              <a:t>Gaius Julius Civilis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Colonia Ulpia Traiana (Xanten): </a:t>
            </a:r>
            <a:r>
              <a:rPr sz="1600" u="sng">
                <a:solidFill>
                  <a:srgbClr val="1F6391"/>
                </a:solidFill>
                <a:hlinkClick r:id="rId10"/>
              </a:rPr>
              <a:t>Colonia Ulpia Traiana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11"/>
              </a:rPr>
              <a:t>Xanten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12"/>
              </a:rPr>
              <a:t>Archaeological Park Xanten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Xanten in Roman times: a time scale: </a:t>
            </a:r>
            <a:r>
              <a:rPr sz="1600" u="sng">
                <a:solidFill>
                  <a:srgbClr val="1F6391"/>
                </a:solidFill>
                <a:hlinkClick r:id="rId3"/>
              </a:rPr>
              <a:t>Vetera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10"/>
              </a:rPr>
              <a:t>Colonia Ulpia Traiana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4"/>
              </a:rPr>
              <a:t>Lower Germanic Limes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What georeferencing does: </a:t>
            </a:r>
            <a:r>
              <a:rPr sz="1600" u="sng">
                <a:solidFill>
                  <a:srgbClr val="1F6391"/>
                </a:solidFill>
                <a:hlinkClick r:id="rId13"/>
              </a:rPr>
              <a:t>Georeferencing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14"/>
              </a:rPr>
              <a:t>Ground control point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15"/>
              </a:rPr>
              <a:t>Image registration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16"/>
              </a:rPr>
              <a:t>World file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17"/>
              </a:rPr>
              <a:t>GeoTIFF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Transformations in the Georeferencer: </a:t>
            </a:r>
            <a:r>
              <a:rPr sz="1600" u="sng">
                <a:solidFill>
                  <a:srgbClr val="1F6391"/>
                </a:solidFill>
                <a:hlinkClick r:id="rId18"/>
              </a:rPr>
              <a:t>Helmert transformation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19"/>
              </a:rPr>
              <a:t>Affine transformation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20"/>
              </a:rPr>
              <a:t>Homography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21"/>
              </a:rPr>
              <a:t>Thin plate spline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Residuals and RMS error: </a:t>
            </a:r>
            <a:r>
              <a:rPr sz="1600" u="sng">
                <a:solidFill>
                  <a:srgbClr val="1F6391"/>
                </a:solidFill>
                <a:hlinkClick r:id="rId22"/>
              </a:rPr>
              <a:t>Errors and residuals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23"/>
              </a:rPr>
              <a:t>Root-mean-square deviation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24"/>
              </a:rPr>
              <a:t>Least squares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A small RMS is not yet an accurate map: </a:t>
            </a:r>
            <a:r>
              <a:rPr sz="1600" u="sng">
                <a:solidFill>
                  <a:srgbClr val="1F6391"/>
                </a:solidFill>
                <a:hlinkClick r:id="rId25"/>
              </a:rPr>
              <a:t>Overfitting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26"/>
              </a:rPr>
              <a:t>Cross-validation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Resampling: new pixels from old ones: </a:t>
            </a:r>
            <a:r>
              <a:rPr sz="1600" u="sng">
                <a:solidFill>
                  <a:srgbClr val="1F6391"/>
                </a:solidFill>
                <a:hlinkClick r:id="rId27"/>
              </a:rPr>
              <a:t>Nearest-neighbor interpolation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28"/>
              </a:rPr>
              <a:t>Bilinear interpolation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29"/>
              </a:rPr>
              <a:t>Bicubic interpolation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Read the map margin: </a:t>
            </a:r>
            <a:r>
              <a:rPr sz="1600" u="sng">
                <a:solidFill>
                  <a:srgbClr val="1F6391"/>
                </a:solidFill>
                <a:hlinkClick r:id="rId30"/>
              </a:rPr>
              <a:t>Universal Transverse Mercator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31"/>
              </a:rPr>
              <a:t>Gauss-Krüger (de)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Our map has three coordinate systems: </a:t>
            </a:r>
            <a:r>
              <a:rPr sz="1600" u="sng">
                <a:solidFill>
                  <a:srgbClr val="1F6391"/>
                </a:solidFill>
                <a:hlinkClick r:id="rId30"/>
              </a:rPr>
              <a:t>Universal Transverse Mercator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32"/>
              </a:rPr>
              <a:t>Gauß-Krüger-Koordinatensystem (de)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33"/>
              </a:rPr>
              <a:t>Deutsches Hauptdreiecksnetz (de)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3E50"/>
                </a:solidFill>
              </a:rPr>
              <a:t>Task: read the DTM hillshade: </a:t>
            </a:r>
            <a:r>
              <a:rPr sz="1600" u="sng">
                <a:solidFill>
                  <a:srgbClr val="1F6391"/>
                </a:solidFill>
                <a:hlinkClick r:id="rId34"/>
              </a:rPr>
              <a:t>Hillshading</a:t>
            </a:r>
            <a:r>
              <a:rPr sz="1600">
                <a:solidFill>
                  <a:srgbClr val="5D6D7E"/>
                </a:solidFill>
              </a:rPr>
              <a:t> · </a:t>
            </a:r>
            <a:r>
              <a:rPr sz="1600" u="sng">
                <a:solidFill>
                  <a:srgbClr val="1F6391"/>
                </a:solidFill>
                <a:hlinkClick r:id="rId35"/>
              </a:rPr>
              <a:t>Digital elevation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Text distilled from Wikipedia (CC BY-SA 4.0) and the QGIS user manual (CC BY-SA 3.0), October 2026. Figures: own work (make_slides.py), CC BY-SA 4.0.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Becker, Rolf</dc:creator>
  <cp:lastModifiedBy>Becker, Rolf</cp:lastModifiedBy>
  <cp:revision>1</cp:revision>
  <dcterms:created xsi:type="dcterms:W3CDTF">2026-10-06T06:25:10Z</dcterms:created>
  <dcterms:modified xsi:type="dcterms:W3CDTF">2026-10-06T06:26:14Z</dcterms:modified>
</cp:coreProperties>
</file>