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9" r:id="rId10"/>
    <p:sldId id="261" r:id="rId12"/>
    <p:sldId id="262" r:id="rId13"/>
    <p:sldId id="263" r:id="rId14"/>
    <p:sldId id="264" r:id="rId15"/>
    <p:sldId id="266" r:id="rId17"/>
    <p:sldId id="267" r:id="rId18"/>
    <p:sldId id="269" r:id="rId20"/>
    <p:sldId id="271" r:id="rId22"/>
    <p:sldId id="272" r:id="rId23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4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50DF-6A56-4683-84A0-9F4766A15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80E23-9634-4C46-9D7C-81DC9C6C1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5A4D-09F2-4B0F-A149-A6672B58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4C268-BE16-408B-909B-DE68D8FA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4AAB-F8D0-40D9-8973-913795E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78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ECB0-CD89-43EC-B046-3414399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5269-D411-416C-B8D8-79952D9E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8A6E-524E-474C-86A0-72018922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5EEB-EE6F-4F5E-AC81-D46685E0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AAA0-40DE-4A3D-8F76-ABD65A6E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23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FEC7-5B63-404F-9905-ACEAD4C1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D25BC-0B97-41E6-BF43-CAAA08D5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EB24-F7FA-4D31-BBE8-71023751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BA50-B6AE-467B-9EFE-EEF613BF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140D-688A-4CA1-889B-A15CF777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74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B71-B5BA-4EC8-84F5-9BF55177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D429-5479-414E-A832-71C1E3C18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1BBC6-6A25-4EC4-AB37-AF22133C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D7EE0-403D-44BE-95A1-54E8A41C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EF1A8-15E7-490A-A0EC-8F0E2140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BD47C-FDD0-4534-81C0-F613CA1F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3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F9C9-6D07-43A5-858A-FEAD4A94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A8BC-1975-4828-8C90-16313039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3805-00C1-43F7-9A1A-5ED7FA844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C01AB-5A49-46D8-8E47-8A9F9AA09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6D58D-E3B9-45F0-B0CD-004D08584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16A4C-387B-48EE-AC0A-FEDF9EA6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112DD-8D37-4488-B45B-FE2042E3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94F1C-BCCA-4784-BC44-1927691B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3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34BE-8B56-4410-9C14-E37C5142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E3E23-6F69-4FFD-8DA5-2C6FCA84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B299F-DFE8-45FA-815A-D25F6511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A881E-8F3E-4B4D-95C4-EA10BA7D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7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691ED-A613-4383-8AD8-AF11C0EC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4C779-BA81-4CE1-AE8A-C3FEC7C3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F2FE0-54CF-4DAD-841A-E7084DE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11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0505-B01A-4DEC-9A3A-0CFCD415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B7BB-E438-4323-A07A-78533491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17714-BB80-4B98-94C2-51F73DB16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890E4-6F2D-49D0-9CA7-313873F6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CE27-4993-4BAE-98D8-5E2C4225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D03D5-21C6-4561-BC66-3A935376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15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07EB-E67D-41A4-9958-78AF4812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FD6CF-1CBF-4E4D-B2D6-B05E336CE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F7BFD-FC2D-4341-883A-BDAE5A773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37643-2A00-4731-97A3-DB59A0B9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BB96D-0449-44C8-AF04-CD7C4B46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138AB-290C-4C0C-BC06-D2F0AFB0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7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4C04-DCE5-4589-83E7-0B65423F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EE96D-AD70-44C8-B472-851020ACC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26AF-845B-4276-8454-41A75ECB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8CE4-57A9-4558-87C7-EF4E0914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09842-5CF2-41C2-9D4D-37CE8E1C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2508C-FD32-4F96-BDBA-A56DE3AD9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F6B02-7CEB-400B-8389-2C3628932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96B0-120A-4A74-99A8-355E3A5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140A-D65D-43BF-9CC3-4B97B021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396D8-7534-46EC-B681-2C76F733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347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9556E-D839-4917-831A-DF6666A8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D2EE8-A7AC-4562-A32A-8A5DC1DA8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C52C-7C86-4474-B8C0-C6E9BC1B4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8686-68EA-4797-BF34-26B83E37D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B4CCA-3D0D-4701-B1AF-DDC1D659D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https://avatars.githubusercontent.com/u/108284238?s=60&amp;v=4">
            <a:extLst>
              <a:ext uri="{FF2B5EF4-FFF2-40B4-BE49-F238E27FC236}">
                <a16:creationId xmlns:a16="http://schemas.microsoft.com/office/drawing/2014/main" id="{6CCBEEFC-210D-4C08-AFAF-C6AC36191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9020" y="6152111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08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Spatial data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F8C8D"/>
                </a:solidFill>
              </a:rPr>
              <a:t>Vector, raster and the OGC Simple Features model</a:t>
            </a:r>
          </a:p>
          <a:p>
            <a:r>
              <a:rPr>
                <a:solidFill>
                  <a:srgbClr val="7F8C8D"/>
                </a:solidFill>
              </a:rPr>
              <a:t>Examples: Kamp-Lintfort and Frohnenbruch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Same place,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two_mod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2270"/>
            <a:ext cx="11064240" cy="40762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3A57"/>
                </a:solidFill>
              </a:rPr>
              <a:t>Vector </a:t>
            </a:r>
            <a:r>
              <a:rPr sz="1800" b="0" i="0">
                <a:solidFill>
                  <a:srgbClr val="2C3E50"/>
                </a:solidFill>
              </a:rPr>
              <a:t>models things that have a boundary and an identity. </a:t>
            </a:r>
            <a:r>
              <a:rPr sz="1800" b="1" i="0">
                <a:solidFill>
                  <a:srgbClr val="1B3A57"/>
                </a:solidFill>
              </a:rPr>
              <a:t>Raster </a:t>
            </a:r>
            <a:r>
              <a:rPr sz="1800" b="0" i="0">
                <a:solidFill>
                  <a:srgbClr val="2C3E50"/>
                </a:solidFill>
              </a:rPr>
              <a:t>models a quantity that varies everywhere in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F8C8D"/>
                </a:solidFill>
              </a:rPr>
              <a:t>© OpenStreetMap contributors (ODbL) · Contains modified Copernicus Sentinel-2 data 2025 (13 May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Vector model: geometry +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geometry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46" y="1097280"/>
            <a:ext cx="10298827" cy="28346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114800"/>
          <a:ext cx="5486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188720"/>
                <a:gridCol w="219456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fid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building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geometry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Freie evangelische G…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POLYGON (…)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POLYGON (…)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code"/>
          <p:cNvSpPr/>
          <p:nvPr/>
        </p:nvSpPr>
        <p:spPr>
          <a:xfrm>
            <a:off x="6263640" y="4114800"/>
            <a:ext cx="5349240" cy="178308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import geopandas as gpd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b = gpd.read_file("kamp_lintfort.gpkg",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                  layer="buildings")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b.geom_type.value_counts()  # Polygon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b.crs                       # EPSG:25832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F8C8D"/>
                </a:solidFill>
              </a:rPr>
              <a:t>© OpenStreetMap contributors (ODbL)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Raster model: a grid of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raster_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15" y="1188720"/>
            <a:ext cx="5122209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234440"/>
            <a:ext cx="493776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Grid: </a:t>
            </a:r>
            <a:r>
              <a:rPr sz="1800" b="0" i="0">
                <a:solidFill>
                  <a:srgbClr val="2C3E50"/>
                </a:solidFill>
              </a:rPr>
              <a:t>rows × columns of cells (pixels)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Cell size: </a:t>
            </a:r>
            <a:r>
              <a:rPr sz="1800" b="0" i="0">
                <a:solidFill>
                  <a:srgbClr val="2C3E50"/>
                </a:solidFill>
              </a:rPr>
              <a:t>resolution, here 10 m × 10 m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Bands: </a:t>
            </a:r>
            <a:r>
              <a:rPr sz="1800" b="0" i="0">
                <a:solidFill>
                  <a:srgbClr val="2C3E50"/>
                </a:solidFill>
              </a:rPr>
              <a:t>several values per cell (B02 … B08)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NoData: </a:t>
            </a:r>
            <a:r>
              <a:rPr sz="1800" b="0" i="0">
                <a:solidFill>
                  <a:srgbClr val="2C3E50"/>
                </a:solidFill>
              </a:rPr>
              <a:t>a value that means ‘no measurement’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CRS + origin: </a:t>
            </a:r>
            <a:r>
              <a:rPr sz="1800" b="0" i="0">
                <a:solidFill>
                  <a:srgbClr val="2C3E50"/>
                </a:solidFill>
              </a:rPr>
              <a:t>place the grid on the Earth</a:t>
            </a:r>
          </a:p>
        </p:txBody>
      </p:sp>
      <p:sp>
        <p:nvSpPr>
          <p:cNvPr id="7" name="code"/>
          <p:cNvSpPr/>
          <p:nvPr/>
        </p:nvSpPr>
        <p:spPr>
          <a:xfrm>
            <a:off x="6629400" y="3703320"/>
            <a:ext cx="4983480" cy="224028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import rasterio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src = rasterio.open("s2_l2a_10m.tif")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src.res        # (10.0, 10.0)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src.count      # 4 bands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src.transform  # origin + cell size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src.xy(4, 7)   # row, col -&gt; x, y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src.index(x, y)  # x, y -&gt; row, 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F8C8D"/>
                </a:solidFill>
              </a:rPr>
              <a:t>Contains modified Copernicus Sentinel-2 data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Resolution decides what you can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resolution_clc_world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5724"/>
            <a:ext cx="11064240" cy="42808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F8C8D"/>
                </a:solidFill>
              </a:rPr>
              <a:t>CORINE Land Cover 2018, © European Union, Copernicus Land Monitoring Service, EEA · ESA WorldCover 10 m 2021 v200 (CC BY 4.0)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Vector or raster?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09160"/>
                <a:gridCol w="47091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Vector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Raster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Models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discrete objects with identity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continuous fields, images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Geometry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points, lines, polygons (exact coordinates)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regular grid, cell size = resolution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Attributes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many columns per feature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one value per cell and band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Strong at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topology, networks, precise boundaries, cartography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map algebra, surfaces, remote sensing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Weak 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continuous variation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sharp boundaries, storage of sparse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Formats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GeoPackage, GeoJSON, Shapefile, PostGIS, FlatGeobuf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GeoTIFF / COG, NetCDF, Zarr, JPEG2000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Python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shapely, GeoPandas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rasterio, xarray / rioxarray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File formats you will meet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2286000"/>
                <a:gridCol w="47548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Files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Good to know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GeoPackage (.gpkg)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vector + raster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 (SQLite)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many layers, long field names, OGC standard: our default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Shapefile (.shp)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vector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3–7 (.shp .shx .dbf .prj …)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one layer, field names ≤ 10 characters, 2 GB limit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GeoJSON (.geojson)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vector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 (text)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web, always WGS 84 lon/lat (RFC 7946), large files get slow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CSV with x/y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points only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 (text)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no CRS stored: you must know it; keys as text (leading zeros)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GeoTIFF / COG (.tif)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raster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bands + georeference; COG = cloud-optimised, read in pieces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NetCDF / Zarr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raster cubes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 / folder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time series of grids (climate, RADOLAN)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3A57"/>
                </a:solidFill>
              </a:rPr>
              <a:t>Rule of thumb: </a:t>
            </a:r>
            <a:r>
              <a:rPr sz="1800" b="0" i="0">
                <a:solidFill>
                  <a:srgbClr val="2C3E50"/>
                </a:solidFill>
              </a:rPr>
              <a:t>GeoPackage for vector exchange, GeoTIFF/COG for rasters, PostGIS when many people work on the same data (geo0840).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OGC Simple Features: the geometry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846320" y="1234440"/>
            <a:ext cx="20116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1">
                <a:solidFill>
                  <a:srgbClr val="1B3A57"/>
                </a:solidFill>
              </a:rPr>
              <a:t>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280160"/>
            <a:ext cx="3657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7F8C8D"/>
                </a:solidFill>
              </a:rPr>
              <a:t>+ SRID, dimension, envelope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011680" cy="548640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 i="0">
                <a:solidFill>
                  <a:srgbClr val="1B3A57"/>
                </a:solidFill>
              </a:rPr>
              <a:t>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331720"/>
            <a:ext cx="20116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1">
                <a:solidFill>
                  <a:srgbClr val="1B3A57"/>
                </a:solidFill>
              </a:rPr>
              <a:t>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331720"/>
            <a:ext cx="20116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1">
                <a:solidFill>
                  <a:srgbClr val="1B3A57"/>
                </a:solidFill>
              </a:rPr>
              <a:t>Surface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331720"/>
            <a:ext cx="2011680" cy="548640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 i="0">
                <a:solidFill>
                  <a:srgbClr val="1B3A57"/>
                </a:solidFill>
              </a:rPr>
              <a:t>GeometryCollection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3429000"/>
            <a:ext cx="2011680" cy="548640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 i="0">
                <a:solidFill>
                  <a:srgbClr val="1B3A57"/>
                </a:solidFill>
              </a:rPr>
              <a:t>LineString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429000"/>
            <a:ext cx="2011680" cy="548640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 i="0">
                <a:solidFill>
                  <a:srgbClr val="1B3A57"/>
                </a:solidFill>
              </a:rPr>
              <a:t>Polygon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526280"/>
            <a:ext cx="2011680" cy="548640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 i="0">
                <a:solidFill>
                  <a:srgbClr val="1B3A57"/>
                </a:solidFill>
              </a:rPr>
              <a:t>LinearRing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526280"/>
            <a:ext cx="2011680" cy="548640"/>
          </a:xfrm>
          <a:prstGeom prst="round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 i="0">
                <a:solidFill>
                  <a:srgbClr val="1B3A57"/>
                </a:solidFill>
              </a:rPr>
              <a:t>PolyhedralSurface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429000"/>
            <a:ext cx="1481328" cy="54864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 i="0">
                <a:solidFill>
                  <a:srgbClr val="1B3A57"/>
                </a:solidFill>
              </a:rPr>
              <a:t>MultiPoint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7928" y="3429000"/>
            <a:ext cx="1481328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 i="1">
                <a:solidFill>
                  <a:srgbClr val="1B3A57"/>
                </a:solidFill>
              </a:rPr>
              <a:t>MultiCurve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3429000"/>
            <a:ext cx="1481328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0" i="1">
                <a:solidFill>
                  <a:srgbClr val="1B3A57"/>
                </a:solidFill>
              </a:rPr>
              <a:t>MultiSurface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4526280"/>
            <a:ext cx="1481328" cy="54864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 i="0">
                <a:solidFill>
                  <a:srgbClr val="1B3A57"/>
                </a:solidFill>
              </a:rPr>
              <a:t>MultiLineString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0696" y="4526280"/>
            <a:ext cx="1481328" cy="54864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 i="0">
                <a:solidFill>
                  <a:srgbClr val="1B3A57"/>
                </a:solidFill>
              </a:rPr>
              <a:t>MultiPolygon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554480" y="1783080"/>
            <a:ext cx="4297680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03320" y="1783080"/>
            <a:ext cx="2148840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852160" y="1783080"/>
            <a:ext cx="0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852160" y="1783080"/>
            <a:ext cx="3456432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03320" y="2880360"/>
            <a:ext cx="0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852160" y="2880360"/>
            <a:ext cx="0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03320" y="3977639"/>
            <a:ext cx="0" cy="548641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52160" y="3977639"/>
            <a:ext cx="0" cy="548641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35824" y="2880360"/>
            <a:ext cx="1572768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308592" y="2880360"/>
            <a:ext cx="0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308592" y="2880360"/>
            <a:ext cx="1572768" cy="548640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308592" y="3977639"/>
            <a:ext cx="0" cy="548641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881360" y="3977639"/>
            <a:ext cx="0" cy="548641"/>
          </a:xfrm>
          <a:prstGeom prst="line">
            <a:avLst/>
          </a:prstGeom>
          <a:ln w="15875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5440680"/>
            <a:ext cx="320040" cy="256032"/>
          </a:xfrm>
          <a:prstGeom prst="rect">
            <a:avLst/>
          </a:prstGeom>
          <a:solidFill>
            <a:srgbClr val="D6EAF8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376672"/>
            <a:ext cx="2194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C3E50"/>
                </a:solidFill>
              </a:rPr>
              <a:t>instantiable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5440680"/>
            <a:ext cx="320040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376672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C3E50"/>
                </a:solidFill>
              </a:rPr>
              <a:t>abstract 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257800"/>
            <a:ext cx="6035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C3E50"/>
                </a:solidFill>
              </a:rPr>
              <a:t>Arrows point to the parent class (‘is a’). A Polygon is bounded by LinearRings: one exterior ring, 0…n holes.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F8C8D"/>
                </a:solidFill>
              </a:rPr>
              <a:t>Simplified after OGC 06-103r4 Simple Feature Access – Part 1: Common Architecture (ISO 19125-1); redrawn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Seven geometry types, written as WKT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sf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06055"/>
            <a:ext cx="11064240" cy="1485569"/>
          </a:xfrm>
          <a:prstGeom prst="rect">
            <a:avLst/>
          </a:prstGeom>
        </p:spPr>
      </p:pic>
      <p:sp>
        <p:nvSpPr>
          <p:cNvPr id="6" name="code"/>
          <p:cNvSpPr/>
          <p:nvPr/>
        </p:nvSpPr>
        <p:spPr>
          <a:xfrm>
            <a:off x="548640" y="3337560"/>
            <a:ext cx="11064240" cy="205740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POINT (2 2)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LINESTRING (0 0, 1.5 2.5, 3 1, 4 3)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POLYGON ((0 0, 4 0, 4 3, 0 3, 0 0), (1 1, 2 1, 2 2, 1 2, 1 1))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MULTIPOINT ((0.5 0.5), (2 2.5), (3.5 1))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MULTILINESTRING ((0 0.5, 2 2.5), (2.5 0.5, 4 2))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MULTIPOLYGON (((0 0, 1.5 0, 1.5 1.5, 0 1.5, 0 0)), ((2 1.5, 4 1.5, 3 3, 2 1.5)))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GEOMETRYCOLLECTION (POINT (0.5 2.5), LINESTRING (0 0, 2 1.5), POLYGON ((3 1, 4 1, 4 2, 3 1)))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7F8C8D"/>
                </a:solidFill>
                <a:latin typeface="Courier New"/>
              </a:rPr>
              <a:t>g = shapely.wkt.loads("POINT (2 2)");  g.wkt, g.wkb_hex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Valid geometries: rules of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sf_valid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7772"/>
            <a:ext cx="11064240" cy="2442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C3E50"/>
                </a:solidFill>
              </a:rPr>
              <a:t>Rings are closed and do not cross themselves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C3E50"/>
                </a:solidFill>
              </a:rPr>
              <a:t>Holes lie inside the shell, touching it in one point at most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C3E50"/>
                </a:solidFill>
              </a:rPr>
              <a:t>Parts of a MultiPolygon do not overlap</a:t>
            </a:r>
          </a:p>
        </p:txBody>
      </p:sp>
      <p:sp>
        <p:nvSpPr>
          <p:cNvPr id="7" name="code"/>
          <p:cNvSpPr/>
          <p:nvPr/>
        </p:nvSpPr>
        <p:spPr>
          <a:xfrm>
            <a:off x="6126480" y="4023360"/>
            <a:ext cx="5486400" cy="164592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from shapely.validation import (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    explain_validity, make_valid)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g.is_valid           # False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explain_validity(g)  # Self-intersection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make_valid(g)        # 2 triangles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Spatial relationships: DE-9IM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de9im_predic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8048"/>
            <a:ext cx="11064240" cy="201306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03320"/>
          <a:ext cx="51206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34440"/>
                <a:gridCol w="1234440"/>
                <a:gridCol w="1234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 ∩ B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Interior B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Boundary B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Exterior B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Interior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Boundary A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C3E50"/>
                          </a:solidFill>
                        </a:rPr>
                        <a:t>Exterior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49240"/>
            <a:ext cx="5120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7F8C8D"/>
                </a:solidFill>
              </a:rPr>
              <a:t>under each pair: A.relate(B); ‘overlaps’ = pattern T*T***T**</a:t>
            </a:r>
          </a:p>
        </p:txBody>
      </p:sp>
      <p:sp>
        <p:nvSpPr>
          <p:cNvPr id="8" name="code"/>
          <p:cNvSpPr/>
          <p:nvPr/>
        </p:nvSpPr>
        <p:spPr>
          <a:xfrm>
            <a:off x="5989320" y="3703320"/>
            <a:ext cx="5623560" cy="224028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A.within(B), A.touches(B)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A.relate(B)         # '212101212'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A.relate_pattern(B, "T*T***T**")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7F8C8D"/>
                </a:solidFill>
                <a:latin typeface="Courier New"/>
              </a:rPr>
              <a:t># whole layers: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gpd.sjoin(wells, gw_bodies,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Courier New"/>
              </a:rPr>
              <a:t>          predicate="within")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Thinking in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pic>
        <p:nvPicPr>
          <p:cNvPr id="5" name="Picture 4" descr="stack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356" y="1143000"/>
            <a:ext cx="3304967" cy="4480560"/>
          </a:xfrm>
          <a:prstGeom prst="rect">
            <a:avLst/>
          </a:prstGeom>
        </p:spPr>
      </p:pic>
      <p:pic>
        <p:nvPicPr>
          <p:cNvPr id="6" name="Picture 5" descr="stack_ra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019" y="1143000"/>
            <a:ext cx="359332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2356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3A57"/>
                </a:solidFill>
              </a:rPr>
              <a:t>Vector stack: </a:t>
            </a:r>
            <a:r>
              <a:rPr sz="1800" b="0" i="0">
                <a:solidFill>
                  <a:srgbClr val="2C3E50"/>
                </a:solidFill>
              </a:rPr>
              <a:t>overlay geometries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62356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3A57"/>
                </a:solidFill>
              </a:rPr>
              <a:t>Raster stack: </a:t>
            </a:r>
            <a:r>
              <a:rPr sz="1800" b="0" i="0">
                <a:solidFill>
                  <a:srgbClr val="2C3E50"/>
                </a:solidFill>
              </a:rPr>
              <a:t>combine aligned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F8C8D"/>
                </a:solidFill>
              </a:rPr>
              <a:t>© OpenStreetMap contributors (ODbL) · Contains modified Copernicus Sentinel-2 data 2025 · ESA WorldCover 10 m 2021 v200 (CC BY 4.0)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sp>
        <p:nvSpPr>
          <p:cNvPr id="5" name="Oval 4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89304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Two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73352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C3E50"/>
                </a:solidFill>
              </a:rPr>
              <a:t>Vector for objects, raster for fields; the question and the scale decide.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86584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Simple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C3E50"/>
                </a:solidFill>
              </a:rPr>
              <a:t>One geometry model behind shapely, GeoPandas, PostGIS, GDAL and GeoPackage.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20439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83863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Validity + DE-9IM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67911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C3E50"/>
                </a:solidFill>
              </a:rPr>
              <a:t>Check geometries before analysis; spatial predicates are matrix patterns.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81144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3A57"/>
                </a:solidFill>
              </a:rPr>
              <a:t>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65192"/>
            <a:ext cx="10058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C3E50"/>
                </a:solidFill>
              </a:rPr>
              <a:t>Same CRS, same extent: the precondition for overlay and map algebra.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Sources and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>geo0160 · Spatial data models · opengeo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F8C8D"/>
                </a:solidFill>
              </a:rPr>
              <a:t/>
            </a:r>
            <a:fld id="{B6F15528-21DE-4FAA-801E-634DDDAF4B2B}" type="slidenum">
              <a:rPr lang="en-US" sz="1000">
                <a:solidFill>
                  <a:srgbClr val="7F8C8D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Standards: </a:t>
            </a:r>
            <a:r>
              <a:rPr sz="1800" b="0" i="0">
                <a:solidFill>
                  <a:srgbClr val="2C3E50"/>
                </a:solidFill>
              </a:rPr>
              <a:t>OGC 06-103r4 Simple Feature Access Part 1 (ISO 19125-1); OGC GeoPackage 1.4; DE-9IM: Clementini, Di Felice &amp; van Oosterom (1993)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Data: </a:t>
            </a:r>
            <a:r>
              <a:rPr sz="1800" b="0" i="0">
                <a:solidFill>
                  <a:srgbClr val="2C3E50"/>
                </a:solidFill>
              </a:rPr>
              <a:t>© OpenStreetMap contributors (ODbL); Contains modified Copernicus Sentinel-2 data 2025, scene S2A_32ULC_20250513 via Earth Search STAC; CORINE Land Cover 2018, © European Union, Copernicus Land Monitoring Service, EEA; ESA WorldCover 10 m 2021 v200 (CC BY 4.0)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Further reading (links): </a:t>
            </a:r>
            <a:r>
              <a:rPr sz="1800" b="0" i="0">
                <a:solidFill>
                  <a:srgbClr val="2C3E50"/>
                </a:solidFill>
              </a:rPr>
              <a:t>Geo-Python and Automating GIS Processes (Univ. of Helsinki); pythongis.org (Tenkanen, Heikinheimo, Whipp); Shapely and GeoPandas user guides; QGIS Training Manual – vector and raster chapters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1800" b="1" i="0">
                <a:solidFill>
                  <a:srgbClr val="2C3E50"/>
                </a:solidFill>
              </a:rPr>
              <a:t>Figures: </a:t>
            </a:r>
            <a:r>
              <a:rPr sz="1800" b="0" i="0">
                <a:solidFill>
                  <a:srgbClr val="2C3E50"/>
                </a:solidFill>
              </a:rPr>
              <a:t>own work, generated with shapely, GeoPandas, rasterio and matplotlib (make_slides.py)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Becker, Rolf</dc:creator>
  <cp:lastModifiedBy>Becker, Rolf</cp:lastModifiedBy>
  <cp:revision>1</cp:revision>
  <dcterms:created xsi:type="dcterms:W3CDTF">2026-10-06T06:25:10Z</dcterms:created>
  <dcterms:modified xsi:type="dcterms:W3CDTF">2026-10-06T06:26:14Z</dcterms:modified>
</cp:coreProperties>
</file>